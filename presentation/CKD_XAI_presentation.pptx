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7e50fda-e7fd-e9cf-ad61-220f7b9fe64a}">
          <p14:sldIdLst>
            <p14:sldId id="256"/>
            <p14:sldId id="257"/>
          </p14:sldIdLst>
        </p14:section>
        <p14:section name="Data and method" id="{47e390a7-80a0-80e1-fc1f-10a19e605d9c}">
          <p14:sldIdLst>
            <p14:sldId id="258"/>
            <p14:sldId id="259"/>
            <p14:sldId id="260"/>
          </p14:sldIdLst>
        </p14:section>
        <p14:section name="Results" id="{b4057eeb-b4dd-54ef-0b29-e803e20e2ce8}">
          <p14:sldIdLst>
            <p14:sldId id="261"/>
            <p14:sldId id="262"/>
          </p14:sldIdLst>
        </p14:section>
        <p14:section name="Explainability" id="{0d86cbe4-92cb-bc60-21bb-a9140c3f52f8}">
          <p14:sldIdLst>
            <p14:sldId id="263"/>
            <p14:sldId id="264"/>
            <p14:sldId id="265"/>
          </p14:sldIdLst>
        </p14:section>
        <p14:section name="Conclusion" id="{5c17ccbc-92e8-ef5c-e0e0-0509a9e4a9a2}">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3D4C"/>
                </a:solidFill>
                <a:latin typeface="+mn-lt"/>
              </a:defRPr>
            </a:pPr>
            <a:r>
              <a:rPr sz="1400" b="0" i="0" u="none" strike="noStrike">
                <a:solidFill>
                  <a:srgbClr val="0F3D4C"/>
                </a:solidFill>
                <a:latin typeface="+mn-lt"/>
              </a:rPr>
              <a:t>Share of total |SHAP| attribution, test set (%)</a:t>
            </a:r>
          </a:p>
        </c:rich>
      </c:tx>
      <c:layout/>
      <c:overlay val="0"/>
    </c:title>
    <c:autoTitleDeleted val="0"/>
    <c:plotArea>
      <c:layout/>
      <c:barChart>
        <c:barDir val="bar"/>
        <c:grouping val="clustered"/>
        <c:varyColors val="0"/>
        <c:ser>
          <c:idx val="0"/>
          <c:order val="0"/>
          <c:tx>
            <c:strRef>
              <c:f>Sheet1!$B$1</c:f>
              <c:strCache>
                <c:ptCount val="1"/>
                <c:pt idx="0">
                  <c:v>Share of attribution (%)</c:v>
                </c:pt>
              </c:strCache>
            </c:strRef>
          </c:tx>
          <c:spPr>
            <a:solidFill>
              <a:srgbClr val="2A78D6"/>
            </a:solidFill>
            <a:effectLst/>
          </c:spPr>
          <c:invertIfNegative val="0"/>
          <c:dLbls>
            <c:numFmt formatCode="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cat>
            <c:multiLvlStrRef>
              <c:f>Sheet1!$A$2:$A$7</c:f>
              <c:multiLvlStrCache>
                <c:ptCount val="6"/>
                <c:lvl>
                  <c:pt idx="0">
                    <c:v>Hypertension</c:v>
                  </c:pt>
                  <c:pt idx="1">
                    <c:v>Packed cell volume</c:v>
                  </c:pt>
                  <c:pt idx="2">
                    <c:v>Albumin grade</c:v>
                  </c:pt>
                  <c:pt idx="3">
                    <c:v>Haemoglobin</c:v>
                  </c:pt>
                  <c:pt idx="4">
                    <c:v>Specific gravity</c:v>
                  </c:pt>
                  <c:pt idx="5">
                    <c:v>Serum creatinine</c:v>
                  </c:pt>
                </c:lvl>
              </c:multiLvlStrCache>
            </c:multiLvlStrRef>
          </c:cat>
          <c:val>
            <c:numRef>
              <c:f>Sheet1!$B$2:$B$7</c:f>
              <c:numCache>
                <c:formatCode>General</c:formatCode>
                <c:ptCount val="6"/>
                <c:pt idx="0">
                  <c:v>6.9</c:v>
                </c:pt>
                <c:pt idx="1">
                  <c:v>8.8</c:v>
                </c:pt>
                <c:pt idx="2">
                  <c:v>9.3</c:v>
                </c:pt>
                <c:pt idx="3">
                  <c:v>13.8</c:v>
                </c:pt>
                <c:pt idx="4">
                  <c:v>15.4</c:v>
                </c:pt>
                <c:pt idx="5">
                  <c:v>16.4</c:v>
                </c:pt>
              </c:numCache>
            </c:numRef>
          </c:val>
        </c:ser>
        <c:dLbls>
          <c:numFmt formatCode="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explainable pipeline that predicts CKD from routine clinical data and shows why each prediction was made. Mention it is an educational prototype, not a diagnostic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CKD is common and silent early. ML can screen from routine tests, but without explanations clinicians cannot judge predictions. Read the three objectives from the synopsis.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UCI file has formatting errors that were fixed by explicit rules, all logged. Missing values are common and strongly class-dependent, which matters later. Non-CKD records look like healthy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workflow. The key point is that every learned step lives inside one pipeline that is refitted on each training fold, so nothing learned from validation or test data can leak in. SMOTE-NC creates synthetic non-CKD records only during fitting.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were tuned by grid search with stratified 5-fold CV on the 320 training records. The selection rule was fixed in the config file before running. The synopsis said 'pick the best on the test set'; that biases the test estimate, so selection used CV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FN vs FP: a false negative is a missed CKD patient, the more harmful error. With only 80 test records, 80/80 still allows a true accuracy as low as about 95.5%. Perfect scores are not clinical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checks matter more than the headline numbers. SMOTE-NC did not help, consistent with Yang et al. 2024. Missingness is informative. Shuffled labels collapse to 0.5, showing no leakage. The data are simply very separable.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five features carry about 64% of all attribution. Each dot in the beeswarm is a test patient: red means a high feature value. High creatinine and low specific gravity or haemoglobin push towards CKD. These agree with clinical knowledge, but SHAP is not causal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 waterfall bottom to top: start at the baseline (mean prediction over 100 training records), add each feature's contribution, end at the model output. The contributions add up exactly (max error 1.8e-8). The second example shows how imputation can influence an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run 'streamlit run app/streamlit_app.py', load dataset record 26, press Predict and explain, show the probability, the imputed field and the waterfall, then point to the consistency check line. Screenshots are from the running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honest message: the pipeline is sound and the explanations are clinically sensible, but the dataset is too small and too easy to support clinical claims.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7955280" cy="20116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246120"/>
            <a:ext cx="8778240" cy="640080"/>
          </a:xfrm>
          <a:prstGeom prst="rect">
            <a:avLst/>
          </a:prstGeom>
          <a:noFill/>
          <a:ln/>
        </p:spPr>
        <p:txBody>
          <a:bodyPr wrap="square" rtlCol="0"/>
          <a:lstStyle>
            <a:lvl1pPr indent="0" marL="0">
              <a:buNone/>
              <a:defRPr lang="en-US" sz="2200" dirty="0">
                <a:solidFill>
                  <a:schemeClr val="accent1"/>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Explainable ML for CKD prediction  |  Vedank Singh</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indent="0" marL="0">
              <a:buNone/>
              <a:defRPr lang="en-US" sz="3000" b="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1"/>
          <p:cNvSpPr/>
          <p:nvPr/>
        </p:nvSpPr>
        <p:spPr>
          <a:xfrm>
            <a:off x="9326880" y="822960"/>
            <a:ext cx="3291840" cy="3291840"/>
          </a:xfrm>
          <a:prstGeom prst="ellipse">
            <a:avLst/>
          </a:prstGeom>
          <a:solidFill>
            <a:schemeClr val="accent1">
              <a:alpha val="85000"/>
            </a:schemeClr>
          </a:solidFill>
          <a:ln/>
        </p:spPr>
      </p:sp>
      <p:sp>
        <p:nvSpPr>
          <p:cNvPr id="3" name="motif-2"/>
          <p:cNvSpPr/>
          <p:nvPr/>
        </p:nvSpPr>
        <p:spPr>
          <a:xfrm>
            <a:off x="10332720" y="3017520"/>
            <a:ext cx="2194560" cy="2194560"/>
          </a:xfrm>
          <a:prstGeom prst="ellipse">
            <a:avLst/>
          </a:prstGeom>
          <a:solidFill>
            <a:schemeClr val="accent2">
              <a:alpha val="75000"/>
            </a:schemeClr>
          </a:solidFill>
          <a:ln/>
        </p:spPr>
      </p:sp>
      <p:sp>
        <p:nvSpPr>
          <p:cNvPr id="4" name="motif-3"/>
          <p:cNvSpPr/>
          <p:nvPr/>
        </p:nvSpPr>
        <p:spPr>
          <a:xfrm>
            <a:off x="8869680" y="3840480"/>
            <a:ext cx="1188720" cy="1188720"/>
          </a:xfrm>
          <a:prstGeom prst="ellipse">
            <a:avLst/>
          </a:prstGeom>
          <a:solidFill>
            <a:schemeClr val="accent3">
              <a:alpha val="80000"/>
            </a:schemeClr>
          </a:solidFill>
          <a:ln/>
        </p:spPr>
      </p:sp>
      <p:sp>
        <p:nvSpPr>
          <p:cNvPr id="5" name="Text 0"/>
          <p:cNvSpPr/>
          <p:nvPr>
            <p:ph idx="100" type="title" hasCustomPrompt="1"/>
          </p:nvPr>
        </p:nvSpPr>
        <p:spPr>
          <a:xfrm>
            <a:off x="731520" y="1097280"/>
            <a:ext cx="7955280" cy="201168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Explainable Machine Learning for Chronic Kidney Disease Prediction</a:t>
            </a:r>
            <a:endParaRPr lang="en-US" sz="4000" dirty="0"/>
          </a:p>
        </p:txBody>
      </p:sp>
      <p:sp>
        <p:nvSpPr>
          <p:cNvPr id="6" name="Text 0"/>
          <p:cNvSpPr/>
          <p:nvPr>
            <p:ph idx="101" type="body" hasCustomPrompt="1"/>
          </p:nvPr>
        </p:nvSpPr>
        <p:spPr>
          <a:xfrm>
            <a:off x="731520" y="3246120"/>
            <a:ext cx="8778240" cy="640080"/>
          </a:xfrm>
          <a:prstGeom prst="rect">
            <a:avLst/>
          </a:prstGeom>
          <a:noFill/>
          <a:ln/>
        </p:spPr>
        <p:txBody>
          <a:bodyPr wrap="square" lIns="0" tIns="0" rIns="0" bIns="0" rtlCol="0"/>
          <a:lstStyle/>
          <a:p>
            <a:pPr indent="0" marL="0">
              <a:buNone/>
            </a:pPr>
            <a:r>
              <a:rPr lang="en-US" sz="2200" dirty="0">
                <a:solidFill>
                  <a:schemeClr val="accent1"/>
                </a:solidFill>
              </a:rPr>
              <a:t>SHAP-based feature attribution on the UCI CKD dataset</a:t>
            </a:r>
            <a:endParaRPr lang="en-US" sz="2200" dirty="0"/>
          </a:p>
        </p:txBody>
      </p:sp>
      <p:sp>
        <p:nvSpPr>
          <p:cNvPr id="7" name="Text 5"/>
          <p:cNvSpPr txBox="1"/>
          <p:nvPr/>
        </p:nvSpPr>
        <p:spPr>
          <a:xfrm>
            <a:off x="731520" y="4297680"/>
            <a:ext cx="8412480" cy="1737360"/>
          </a:xfrm>
          <a:prstGeom prst="rect">
            <a:avLst/>
          </a:prstGeom>
          <a:noFill/>
          <a:ln/>
        </p:spPr>
        <p:txBody>
          <a:bodyPr wrap="square" lIns="0" tIns="0" rIns="0" bIns="0" rtlCol="0" anchor="t"/>
          <a:lstStyle/>
          <a:p>
            <a:pPr indent="0" marL="0">
              <a:spcAft>
                <a:spcPts val="600"/>
              </a:spcAft>
              <a:buNone/>
            </a:pPr>
            <a:r>
              <a:rPr lang="en-US" sz="2000" b="1" dirty="0">
                <a:solidFill>
                  <a:schemeClr val="bg2"/>
                </a:solidFill>
              </a:rPr>
              <a:t>Vedank Singh  |  Reg. No. 240962043</a:t>
            </a:r>
            <a:endParaRPr lang="en-US" sz="2000" dirty="0"/>
          </a:p>
          <a:p>
            <a:pPr indent="0" marL="0">
              <a:spcAft>
                <a:spcPts val="600"/>
              </a:spcAft>
              <a:buNone/>
            </a:pPr>
            <a:r>
              <a:rPr lang="en-US" sz="1500" dirty="0">
                <a:solidFill>
                  <a:schemeClr val="bg2"/>
                </a:solidFill>
              </a:rPr>
              <a:t>B.Tech. CSE (AI &amp; ML), V Semester, Section B</a:t>
            </a:r>
            <a:endParaRPr lang="en-US" sz="2000" dirty="0"/>
          </a:p>
          <a:p>
            <a:pPr indent="0" marL="0">
              <a:spcAft>
                <a:spcPts val="600"/>
              </a:spcAft>
              <a:buNone/>
            </a:pPr>
            <a:r>
              <a:rPr lang="en-US" sz="1500" dirty="0">
                <a:solidFill>
                  <a:schemeClr val="bg2"/>
                </a:solidFill>
              </a:rPr>
              <a:t>Guides: Dr. Narendra V G (Professor) and Ms Vibha (Assistant Professor - Senior Scale)</a:t>
            </a:r>
            <a:endParaRPr lang="en-US" sz="2000" dirty="0"/>
          </a:p>
          <a:p>
            <a:pPr indent="0" marL="0">
              <a:spcAft>
                <a:spcPts val="600"/>
              </a:spcAft>
              <a:buNone/>
            </a:pPr>
            <a:r>
              <a:rPr lang="en-US" sz="1500" dirty="0">
                <a:solidFill>
                  <a:schemeClr val="bg2"/>
                </a:solidFill>
              </a:rPr>
              <a:t>School of Computer Engineering, Manipal Institute of Technology  |  Academic Year 2026–27</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Why CKD prediction needs explanations</a:t>
            </a:r>
            <a:endParaRPr lang="en-US" sz="3000" dirty="0"/>
          </a:p>
        </p:txBody>
      </p:sp>
      <p:sp>
        <p:nvSpPr>
          <p:cNvPr id="3" name="Text 1"/>
          <p:cNvSpPr txBox="1"/>
          <p:nvPr/>
        </p:nvSpPr>
        <p:spPr>
          <a:xfrm>
            <a:off x="548640" y="1234440"/>
            <a:ext cx="5120640" cy="86868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788 million</a:t>
            </a:r>
            <a:endParaRPr lang="en-US" sz="5400" dirty="0"/>
          </a:p>
        </p:txBody>
      </p:sp>
      <p:sp>
        <p:nvSpPr>
          <p:cNvPr id="4" name="Text 2"/>
          <p:cNvSpPr txBox="1"/>
          <p:nvPr/>
        </p:nvSpPr>
        <p:spPr>
          <a:xfrm>
            <a:off x="548640" y="2103120"/>
            <a:ext cx="5120640" cy="548640"/>
          </a:xfrm>
          <a:prstGeom prst="rect">
            <a:avLst/>
          </a:prstGeom>
          <a:noFill/>
          <a:ln/>
        </p:spPr>
        <p:txBody>
          <a:bodyPr wrap="square" lIns="0" tIns="0" rIns="0" bIns="0" rtlCol="0" anchor="ctr"/>
          <a:lstStyle/>
          <a:p>
            <a:pPr indent="0" marL="0">
              <a:buNone/>
            </a:pPr>
            <a:r>
              <a:rPr lang="en-US" sz="1400" dirty="0">
                <a:solidFill>
                  <a:schemeClr val="tx1"/>
                </a:solidFill>
              </a:rPr>
              <a:t>adults had CKD in 2023 (age-standardised prevalence 14.2%), GBD 2023 Study</a:t>
            </a:r>
            <a:endParaRPr lang="en-US" sz="1400" dirty="0"/>
          </a:p>
        </p:txBody>
      </p:sp>
      <p:sp>
        <p:nvSpPr>
          <p:cNvPr id="5" name="card"/>
          <p:cNvSpPr/>
          <p:nvPr/>
        </p:nvSpPr>
        <p:spPr>
          <a:xfrm>
            <a:off x="548640" y="2926080"/>
            <a:ext cx="5120640" cy="1463040"/>
          </a:xfrm>
          <a:prstGeom prst="roundRect">
            <a:avLst>
              <a:gd name="adj" fmla="val 7500"/>
            </a:avLst>
          </a:prstGeom>
          <a:solidFill>
            <a:schemeClr val="bg2"/>
          </a:solidFill>
          <a:ln/>
        </p:spPr>
      </p:sp>
      <p:sp>
        <p:nvSpPr>
          <p:cNvPr id="6" name="Text 4"/>
          <p:cNvSpPr txBox="1"/>
          <p:nvPr/>
        </p:nvSpPr>
        <p:spPr>
          <a:xfrm>
            <a:off x="777240" y="3063240"/>
            <a:ext cx="4663440" cy="1188720"/>
          </a:xfrm>
          <a:prstGeom prst="rect">
            <a:avLst/>
          </a:prstGeom>
          <a:noFill/>
          <a:ln/>
        </p:spPr>
        <p:txBody>
          <a:bodyPr wrap="square" lIns="0" tIns="0" rIns="0" bIns="0" rtlCol="0" anchor="t"/>
          <a:lstStyle/>
          <a:p>
            <a:pPr indent="0" marL="0">
              <a:buNone/>
            </a:pPr>
            <a:r>
              <a:rPr lang="en-US" sz="1600" b="1" dirty="0">
                <a:solidFill>
                  <a:schemeClr val="tx1"/>
                </a:solidFill>
              </a:rPr>
              <a:t>Often silent early</a:t>
            </a:r>
            <a:endParaRPr lang="en-US" sz="1600" dirty="0"/>
          </a:p>
          <a:p>
            <a:pPr indent="0" marL="0">
              <a:buNone/>
            </a:pPr>
            <a:r>
              <a:rPr lang="en-US" sz="1400" dirty="0">
                <a:solidFill>
                  <a:schemeClr val="tx1"/>
                </a:solidFill>
              </a:rPr>
              <a:t>Routine blood and urine tests can flag likely CKD before symptoms appear.</a:t>
            </a:r>
            <a:endParaRPr lang="en-US" sz="1600" dirty="0"/>
          </a:p>
        </p:txBody>
      </p:sp>
      <p:sp>
        <p:nvSpPr>
          <p:cNvPr id="7" name="card"/>
          <p:cNvSpPr/>
          <p:nvPr/>
        </p:nvSpPr>
        <p:spPr>
          <a:xfrm>
            <a:off x="548640" y="4572000"/>
            <a:ext cx="5120640" cy="1463040"/>
          </a:xfrm>
          <a:prstGeom prst="roundRect">
            <a:avLst>
              <a:gd name="adj" fmla="val 7500"/>
            </a:avLst>
          </a:prstGeom>
          <a:solidFill>
            <a:schemeClr val="bg2"/>
          </a:solidFill>
          <a:ln/>
        </p:spPr>
      </p:sp>
      <p:sp>
        <p:nvSpPr>
          <p:cNvPr id="8" name="Text 6"/>
          <p:cNvSpPr txBox="1"/>
          <p:nvPr/>
        </p:nvSpPr>
        <p:spPr>
          <a:xfrm>
            <a:off x="777240" y="4709160"/>
            <a:ext cx="4663440" cy="1188720"/>
          </a:xfrm>
          <a:prstGeom prst="rect">
            <a:avLst/>
          </a:prstGeom>
          <a:noFill/>
          <a:ln/>
        </p:spPr>
        <p:txBody>
          <a:bodyPr wrap="square" lIns="0" tIns="0" rIns="0" bIns="0" rtlCol="0" anchor="t"/>
          <a:lstStyle/>
          <a:p>
            <a:pPr indent="0" marL="0">
              <a:buNone/>
            </a:pPr>
            <a:r>
              <a:rPr lang="en-US" sz="1600" b="1" dirty="0">
                <a:solidFill>
                  <a:schemeClr val="tx1"/>
                </a:solidFill>
              </a:rPr>
              <a:t>Black boxes are hard to trust</a:t>
            </a:r>
            <a:endParaRPr lang="en-US" sz="1600" dirty="0"/>
          </a:p>
          <a:p>
            <a:pPr indent="0" marL="0">
              <a:buNone/>
            </a:pPr>
            <a:r>
              <a:rPr lang="en-US" sz="1400" dirty="0">
                <a:solidFill>
                  <a:schemeClr val="tx1"/>
                </a:solidFill>
              </a:rPr>
              <a:t>A clinician needs to see why a model flags a patient. SHAP attributes each prediction to the inputs.</a:t>
            </a:r>
            <a:endParaRPr lang="en-US" sz="1600" dirty="0"/>
          </a:p>
        </p:txBody>
      </p:sp>
      <p:sp>
        <p:nvSpPr>
          <p:cNvPr id="9" name="Text 7"/>
          <p:cNvSpPr txBox="1"/>
          <p:nvPr/>
        </p:nvSpPr>
        <p:spPr>
          <a:xfrm>
            <a:off x="6309360" y="1234440"/>
            <a:ext cx="5303520" cy="457200"/>
          </a:xfrm>
          <a:prstGeom prst="rect">
            <a:avLst/>
          </a:prstGeom>
          <a:noFill/>
          <a:ln/>
        </p:spPr>
        <p:txBody>
          <a:bodyPr wrap="square" lIns="0" tIns="0" rIns="0" bIns="0" rtlCol="0" anchor="ctr"/>
          <a:lstStyle/>
          <a:p>
            <a:pPr indent="0" marL="0">
              <a:buNone/>
            </a:pPr>
            <a:r>
              <a:rPr lang="en-US" sz="2200" b="1" dirty="0">
                <a:solidFill>
                  <a:schemeClr val="tx2"/>
                </a:solidFill>
              </a:rPr>
              <a:t>Objectives</a:t>
            </a:r>
            <a:endParaRPr lang="en-US" sz="2200" dirty="0"/>
          </a:p>
        </p:txBody>
      </p:sp>
      <p:sp>
        <p:nvSpPr>
          <p:cNvPr id="10" name="badge"/>
          <p:cNvSpPr/>
          <p:nvPr/>
        </p:nvSpPr>
        <p:spPr>
          <a:xfrm>
            <a:off x="6309360" y="1965960"/>
            <a:ext cx="457200" cy="457200"/>
          </a:xfrm>
          <a:prstGeom prst="ellipse">
            <a:avLst/>
          </a:prstGeom>
          <a:solidFill>
            <a:schemeClr val="accent1"/>
          </a:solidFill>
          <a:ln/>
        </p:spPr>
      </p:sp>
      <p:sp>
        <p:nvSpPr>
          <p:cNvPr id="11" name="Text 9"/>
          <p:cNvSpPr txBox="1"/>
          <p:nvPr/>
        </p:nvSpPr>
        <p:spPr>
          <a:xfrm>
            <a:off x="6309360" y="1965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2" name="Text 10"/>
          <p:cNvSpPr txBox="1"/>
          <p:nvPr/>
        </p:nvSpPr>
        <p:spPr>
          <a:xfrm>
            <a:off x="6949440" y="1874520"/>
            <a:ext cx="4663440" cy="1188720"/>
          </a:xfrm>
          <a:prstGeom prst="rect">
            <a:avLst/>
          </a:prstGeom>
          <a:noFill/>
          <a:ln/>
        </p:spPr>
        <p:txBody>
          <a:bodyPr wrap="square" lIns="0" tIns="0" rIns="0" bIns="0" rtlCol="0" anchor="t"/>
          <a:lstStyle/>
          <a:p>
            <a:pPr indent="0" marL="0">
              <a:buNone/>
            </a:pPr>
            <a:r>
              <a:rPr lang="en-US" sz="1600" dirty="0">
                <a:solidFill>
                  <a:schemeClr val="tx1"/>
                </a:solidFill>
              </a:rPr>
              <a:t>Acquire, clean and preprocess the UCI CKD data without leakage: missing values, encoding, scaling, class imbalance</a:t>
            </a:r>
            <a:endParaRPr lang="en-US" sz="1600" dirty="0"/>
          </a:p>
        </p:txBody>
      </p:sp>
      <p:sp>
        <p:nvSpPr>
          <p:cNvPr id="13" name="badge"/>
          <p:cNvSpPr/>
          <p:nvPr/>
        </p:nvSpPr>
        <p:spPr>
          <a:xfrm>
            <a:off x="6309360" y="3383280"/>
            <a:ext cx="457200" cy="457200"/>
          </a:xfrm>
          <a:prstGeom prst="ellipse">
            <a:avLst/>
          </a:prstGeom>
          <a:solidFill>
            <a:schemeClr val="accent2"/>
          </a:solidFill>
          <a:ln/>
        </p:spPr>
      </p:sp>
      <p:sp>
        <p:nvSpPr>
          <p:cNvPr id="14" name="Text 12"/>
          <p:cNvSpPr txBox="1"/>
          <p:nvPr/>
        </p:nvSpPr>
        <p:spPr>
          <a:xfrm>
            <a:off x="6309360" y="33832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Text 13"/>
          <p:cNvSpPr txBox="1"/>
          <p:nvPr/>
        </p:nvSpPr>
        <p:spPr>
          <a:xfrm>
            <a:off x="6949440" y="3291840"/>
            <a:ext cx="4663440" cy="1188720"/>
          </a:xfrm>
          <a:prstGeom prst="rect">
            <a:avLst/>
          </a:prstGeom>
          <a:noFill/>
          <a:ln/>
        </p:spPr>
        <p:txBody>
          <a:bodyPr wrap="square" lIns="0" tIns="0" rIns="0" bIns="0" rtlCol="0" anchor="t"/>
          <a:lstStyle/>
          <a:p>
            <a:pPr indent="0" marL="0">
              <a:buNone/>
            </a:pPr>
            <a:r>
              <a:rPr lang="en-US" sz="1600" dirty="0">
                <a:solidFill>
                  <a:schemeClr val="tx1"/>
                </a:solidFill>
              </a:rPr>
              <a:t>Tune and compare Logistic Regression, SVM, Random Forest and XGBoost on accuracy, precision, recall, F1 and ROC-AUC</a:t>
            </a:r>
            <a:endParaRPr lang="en-US" sz="1600" dirty="0"/>
          </a:p>
        </p:txBody>
      </p:sp>
      <p:sp>
        <p:nvSpPr>
          <p:cNvPr id="16" name="badge"/>
          <p:cNvSpPr/>
          <p:nvPr/>
        </p:nvSpPr>
        <p:spPr>
          <a:xfrm>
            <a:off x="6309360" y="4800600"/>
            <a:ext cx="457200" cy="457200"/>
          </a:xfrm>
          <a:prstGeom prst="ellipse">
            <a:avLst/>
          </a:prstGeom>
          <a:solidFill>
            <a:schemeClr val="accent3"/>
          </a:solidFill>
          <a:ln/>
        </p:spPr>
      </p:sp>
      <p:sp>
        <p:nvSpPr>
          <p:cNvPr id="17" name="Text 15"/>
          <p:cNvSpPr txBox="1"/>
          <p:nvPr/>
        </p:nvSpPr>
        <p:spPr>
          <a:xfrm>
            <a:off x="6309360" y="4800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6949440" y="4709160"/>
            <a:ext cx="4663440" cy="1188720"/>
          </a:xfrm>
          <a:prstGeom prst="rect">
            <a:avLst/>
          </a:prstGeom>
          <a:noFill/>
          <a:ln/>
        </p:spPr>
        <p:txBody>
          <a:bodyPr wrap="square" lIns="0" tIns="0" rIns="0" bIns="0" rtlCol="0" anchor="t"/>
          <a:lstStyle/>
          <a:p>
            <a:pPr indent="0" marL="0">
              <a:buNone/>
            </a:pPr>
            <a:r>
              <a:rPr lang="en-US" sz="1600" dirty="0">
                <a:solidFill>
                  <a:schemeClr val="tx1"/>
                </a:solidFill>
              </a:rPr>
              <a:t>Explain the chosen model with SHAP, globally and per patient, and compare its key features with clinical literature</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The data: 400 patients, 24 routine clinical inputs</a:t>
            </a:r>
            <a:endParaRPr lang="en-US" sz="3000" dirty="0"/>
          </a:p>
        </p:txBody>
      </p:sp>
      <p:sp>
        <p:nvSpPr>
          <p:cNvPr id="3" name="card"/>
          <p:cNvSpPr/>
          <p:nvPr/>
        </p:nvSpPr>
        <p:spPr>
          <a:xfrm>
            <a:off x="548640" y="1188720"/>
            <a:ext cx="2606040" cy="1417320"/>
          </a:xfrm>
          <a:prstGeom prst="roundRect">
            <a:avLst>
              <a:gd name="adj" fmla="val 7742"/>
            </a:avLst>
          </a:prstGeom>
          <a:solidFill>
            <a:schemeClr val="bg2"/>
          </a:solidFill>
          <a:ln/>
        </p:spPr>
      </p:sp>
      <p:sp>
        <p:nvSpPr>
          <p:cNvPr id="4" name="Text 2"/>
          <p:cNvSpPr txBox="1"/>
          <p:nvPr/>
        </p:nvSpPr>
        <p:spPr>
          <a:xfrm>
            <a:off x="731520" y="1188720"/>
            <a:ext cx="2286000" cy="73152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400</a:t>
            </a:r>
            <a:endParaRPr lang="en-US" sz="3600" dirty="0"/>
          </a:p>
        </p:txBody>
      </p:sp>
      <p:sp>
        <p:nvSpPr>
          <p:cNvPr id="5" name="Text 3"/>
          <p:cNvSpPr txBox="1"/>
          <p:nvPr/>
        </p:nvSpPr>
        <p:spPr>
          <a:xfrm>
            <a:off x="731520" y="1965960"/>
            <a:ext cx="2286000" cy="548640"/>
          </a:xfrm>
          <a:prstGeom prst="rect">
            <a:avLst/>
          </a:prstGeom>
          <a:noFill/>
          <a:ln/>
        </p:spPr>
        <p:txBody>
          <a:bodyPr wrap="square" lIns="0" tIns="0" rIns="0" bIns="0" rtlCol="0" anchor="t"/>
          <a:lstStyle/>
          <a:p>
            <a:pPr indent="0" marL="0">
              <a:buNone/>
            </a:pPr>
            <a:r>
              <a:rPr lang="en-US" sz="1400" dirty="0">
                <a:solidFill>
                  <a:schemeClr val="tx1"/>
                </a:solidFill>
              </a:rPr>
              <a:t>records (UCI repository, id 336)</a:t>
            </a:r>
            <a:endParaRPr lang="en-US" sz="1400" dirty="0"/>
          </a:p>
        </p:txBody>
      </p:sp>
      <p:sp>
        <p:nvSpPr>
          <p:cNvPr id="6" name="card"/>
          <p:cNvSpPr/>
          <p:nvPr/>
        </p:nvSpPr>
        <p:spPr>
          <a:xfrm>
            <a:off x="3337560" y="1188720"/>
            <a:ext cx="2606040" cy="1417320"/>
          </a:xfrm>
          <a:prstGeom prst="roundRect">
            <a:avLst>
              <a:gd name="adj" fmla="val 7742"/>
            </a:avLst>
          </a:prstGeom>
          <a:solidFill>
            <a:schemeClr val="bg2"/>
          </a:solidFill>
          <a:ln/>
        </p:spPr>
      </p:sp>
      <p:sp>
        <p:nvSpPr>
          <p:cNvPr id="7" name="Text 5"/>
          <p:cNvSpPr txBox="1"/>
          <p:nvPr/>
        </p:nvSpPr>
        <p:spPr>
          <a:xfrm>
            <a:off x="3520440" y="1188720"/>
            <a:ext cx="2286000" cy="731520"/>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250 / 150</a:t>
            </a:r>
            <a:endParaRPr lang="en-US" sz="3600" dirty="0"/>
          </a:p>
        </p:txBody>
      </p:sp>
      <p:sp>
        <p:nvSpPr>
          <p:cNvPr id="8" name="Text 6"/>
          <p:cNvSpPr txBox="1"/>
          <p:nvPr/>
        </p:nvSpPr>
        <p:spPr>
          <a:xfrm>
            <a:off x="3520440" y="1965960"/>
            <a:ext cx="2286000" cy="548640"/>
          </a:xfrm>
          <a:prstGeom prst="rect">
            <a:avLst/>
          </a:prstGeom>
          <a:noFill/>
          <a:ln/>
        </p:spPr>
        <p:txBody>
          <a:bodyPr wrap="square" lIns="0" tIns="0" rIns="0" bIns="0" rtlCol="0" anchor="t"/>
          <a:lstStyle/>
          <a:p>
            <a:pPr indent="0" marL="0">
              <a:buNone/>
            </a:pPr>
            <a:r>
              <a:rPr lang="en-US" sz="1400" dirty="0">
                <a:solidFill>
                  <a:schemeClr val="tx1"/>
                </a:solidFill>
              </a:rPr>
              <a:t>CKD / non-CKD</a:t>
            </a:r>
            <a:endParaRPr lang="en-US" sz="1400" dirty="0"/>
          </a:p>
        </p:txBody>
      </p:sp>
      <p:sp>
        <p:nvSpPr>
          <p:cNvPr id="9" name="card"/>
          <p:cNvSpPr/>
          <p:nvPr/>
        </p:nvSpPr>
        <p:spPr>
          <a:xfrm>
            <a:off x="6126480" y="1188720"/>
            <a:ext cx="2606040" cy="1417320"/>
          </a:xfrm>
          <a:prstGeom prst="roundRect">
            <a:avLst>
              <a:gd name="adj" fmla="val 7742"/>
            </a:avLst>
          </a:prstGeom>
          <a:solidFill>
            <a:schemeClr val="bg2"/>
          </a:solidFill>
          <a:ln/>
        </p:spPr>
      </p:sp>
      <p:sp>
        <p:nvSpPr>
          <p:cNvPr id="10" name="Text 8"/>
          <p:cNvSpPr txBox="1"/>
          <p:nvPr/>
        </p:nvSpPr>
        <p:spPr>
          <a:xfrm>
            <a:off x="6309360" y="1188720"/>
            <a:ext cx="2286000" cy="731520"/>
          </a:xfrm>
          <a:prstGeom prst="rect">
            <a:avLst/>
          </a:prstGeom>
          <a:noFill/>
          <a:ln/>
        </p:spPr>
        <p:txBody>
          <a:bodyPr wrap="square" lIns="0" tIns="0" rIns="0" bIns="0" rtlCol="0" anchor="b"/>
          <a:lstStyle/>
          <a:p>
            <a:pPr indent="0" marL="0">
              <a:buNone/>
            </a:pPr>
            <a:r>
              <a:rPr lang="en-US" sz="3600" b="1" dirty="0">
                <a:solidFill>
                  <a:schemeClr val="accent4"/>
                </a:solidFill>
                <a:latin typeface="Cambria" pitchFamily="34" charset="0"/>
                <a:ea typeface="Cambria" pitchFamily="34" charset="-122"/>
                <a:cs typeface="Cambria" pitchFamily="34" charset="-120"/>
              </a:rPr>
              <a:t>24</a:t>
            </a:r>
            <a:endParaRPr lang="en-US" sz="3600" dirty="0"/>
          </a:p>
        </p:txBody>
      </p:sp>
      <p:sp>
        <p:nvSpPr>
          <p:cNvPr id="11" name="Text 9"/>
          <p:cNvSpPr txBox="1"/>
          <p:nvPr/>
        </p:nvSpPr>
        <p:spPr>
          <a:xfrm>
            <a:off x="6309360" y="1965960"/>
            <a:ext cx="2286000" cy="548640"/>
          </a:xfrm>
          <a:prstGeom prst="rect">
            <a:avLst/>
          </a:prstGeom>
          <a:noFill/>
          <a:ln/>
        </p:spPr>
        <p:txBody>
          <a:bodyPr wrap="square" lIns="0" tIns="0" rIns="0" bIns="0" rtlCol="0" anchor="t"/>
          <a:lstStyle/>
          <a:p>
            <a:pPr indent="0" marL="0">
              <a:buNone/>
            </a:pPr>
            <a:r>
              <a:rPr lang="en-US" sz="1400" dirty="0">
                <a:solidFill>
                  <a:schemeClr val="tx1"/>
                </a:solidFill>
              </a:rPr>
              <a:t>inputs: 11 numeric, 3 ordinal, 10 binary</a:t>
            </a:r>
            <a:endParaRPr lang="en-US" sz="1400" dirty="0"/>
          </a:p>
        </p:txBody>
      </p:sp>
      <p:sp>
        <p:nvSpPr>
          <p:cNvPr id="12" name="card"/>
          <p:cNvSpPr/>
          <p:nvPr/>
        </p:nvSpPr>
        <p:spPr>
          <a:xfrm>
            <a:off x="8915400" y="1188720"/>
            <a:ext cx="2606040" cy="1417320"/>
          </a:xfrm>
          <a:prstGeom prst="roundRect">
            <a:avLst>
              <a:gd name="adj" fmla="val 7742"/>
            </a:avLst>
          </a:prstGeom>
          <a:solidFill>
            <a:schemeClr val="bg2"/>
          </a:solidFill>
          <a:ln/>
        </p:spPr>
      </p:sp>
      <p:sp>
        <p:nvSpPr>
          <p:cNvPr id="13" name="Text 11"/>
          <p:cNvSpPr txBox="1"/>
          <p:nvPr/>
        </p:nvSpPr>
        <p:spPr>
          <a:xfrm>
            <a:off x="9098280" y="1188720"/>
            <a:ext cx="2286000" cy="731520"/>
          </a:xfrm>
          <a:prstGeom prst="rect">
            <a:avLst/>
          </a:prstGeom>
          <a:noFill/>
          <a:ln/>
        </p:spPr>
        <p:txBody>
          <a:bodyPr wrap="square" lIns="0" tIns="0" rIns="0" bIns="0" rtlCol="0" anchor="b"/>
          <a:lstStyle/>
          <a:p>
            <a:pPr indent="0" marL="0">
              <a:buNone/>
            </a:pPr>
            <a:r>
              <a:rPr lang="en-US" sz="3600" b="1" dirty="0">
                <a:solidFill>
                  <a:schemeClr val="accent3"/>
                </a:solidFill>
                <a:latin typeface="Cambria" pitchFamily="34" charset="0"/>
                <a:ea typeface="Cambria" pitchFamily="34" charset="-122"/>
                <a:cs typeface="Cambria" pitchFamily="34" charset="-120"/>
              </a:rPr>
              <a:t>10.6%</a:t>
            </a:r>
            <a:endParaRPr lang="en-US" sz="3600" dirty="0"/>
          </a:p>
        </p:txBody>
      </p:sp>
      <p:sp>
        <p:nvSpPr>
          <p:cNvPr id="14" name="Text 12"/>
          <p:cNvSpPr txBox="1"/>
          <p:nvPr/>
        </p:nvSpPr>
        <p:spPr>
          <a:xfrm>
            <a:off x="9098280" y="1965960"/>
            <a:ext cx="2286000" cy="548640"/>
          </a:xfrm>
          <a:prstGeom prst="rect">
            <a:avLst/>
          </a:prstGeom>
          <a:noFill/>
          <a:ln/>
        </p:spPr>
        <p:txBody>
          <a:bodyPr wrap="square" lIns="0" tIns="0" rIns="0" bIns="0" rtlCol="0" anchor="t"/>
          <a:lstStyle/>
          <a:p>
            <a:pPr indent="0" marL="0">
              <a:buNone/>
            </a:pPr>
            <a:r>
              <a:rPr lang="en-US" sz="1400" dirty="0">
                <a:solidFill>
                  <a:schemeClr val="tx1"/>
                </a:solidFill>
              </a:rPr>
              <a:t>of values missing</a:t>
            </a:r>
            <a:endParaRPr lang="en-US" sz="1400" dirty="0"/>
          </a:p>
        </p:txBody>
      </p:sp>
      <p:sp>
        <p:nvSpPr>
          <p:cNvPr id="15" name="card"/>
          <p:cNvSpPr/>
          <p:nvPr/>
        </p:nvSpPr>
        <p:spPr>
          <a:xfrm>
            <a:off x="548640" y="2834640"/>
            <a:ext cx="5394960" cy="3291840"/>
          </a:xfrm>
          <a:prstGeom prst="roundRect">
            <a:avLst>
              <a:gd name="adj" fmla="val 3333"/>
            </a:avLst>
          </a:prstGeom>
          <a:solidFill>
            <a:schemeClr val="bg2"/>
          </a:solidFill>
          <a:ln/>
        </p:spPr>
      </p:sp>
      <p:sp>
        <p:nvSpPr>
          <p:cNvPr id="16" name="Text 14"/>
          <p:cNvSpPr txBox="1"/>
          <p:nvPr/>
        </p:nvSpPr>
        <p:spPr>
          <a:xfrm>
            <a:off x="777240" y="2971800"/>
            <a:ext cx="4937760" cy="411480"/>
          </a:xfrm>
          <a:prstGeom prst="rect">
            <a:avLst/>
          </a:prstGeom>
          <a:noFill/>
          <a:ln/>
        </p:spPr>
        <p:txBody>
          <a:bodyPr wrap="square" lIns="0" tIns="0" rIns="0" bIns="0" rtlCol="0" anchor="ctr"/>
          <a:lstStyle/>
          <a:p>
            <a:pPr indent="0" marL="0">
              <a:buNone/>
            </a:pPr>
            <a:r>
              <a:rPr lang="en-US" sz="1800" b="1" dirty="0">
                <a:solidFill>
                  <a:schemeClr val="tx2"/>
                </a:solidFill>
              </a:rPr>
              <a:t>Cleaning: nothing deleted</a:t>
            </a:r>
            <a:endParaRPr lang="en-US" sz="1800" dirty="0"/>
          </a:p>
        </p:txBody>
      </p:sp>
      <p:sp>
        <p:nvSpPr>
          <p:cNvPr id="17" name="Text 15"/>
          <p:cNvSpPr txBox="1"/>
          <p:nvPr/>
        </p:nvSpPr>
        <p:spPr>
          <a:xfrm>
            <a:off x="777240" y="3474720"/>
            <a:ext cx="498348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Official archive cached with SHA-256; matches UCI's CSV cell for cell</a:t>
            </a:r>
            <a:endParaRPr lang="en-US" sz="1500" dirty="0"/>
          </a:p>
          <a:p>
            <a:pPr marL="342900" indent="-342900">
              <a:spcAft>
                <a:spcPts val="800"/>
              </a:spcAft>
              <a:buSzPct val="100000"/>
              <a:buChar char="•"/>
            </a:pPr>
            <a:r>
              <a:rPr lang="en-US" sz="1500" dirty="0">
                <a:solidFill>
                  <a:schemeClr val="tx1"/>
                </a:solidFill>
              </a:rPr>
              <a:t>3 malformed lines and 16 stray tab/space cells repaired</a:t>
            </a:r>
            <a:endParaRPr lang="en-US" sz="1500" dirty="0"/>
          </a:p>
          <a:p>
            <a:pPr marL="342900" indent="-342900">
              <a:spcAft>
                <a:spcPts val="800"/>
              </a:spcAft>
              <a:buSzPct val="100000"/>
              <a:buChar char="•"/>
            </a:pPr>
            <a:r>
              <a:rPr lang="en-US" sz="1500" dirty="0">
                <a:solidFill>
                  <a:schemeClr val="tx1"/>
                </a:solidFill>
              </a:rPr>
              <a:t>3 impossible values set to missing (sodium 4.5; potassium 39 and 47 mEq/L)</a:t>
            </a:r>
            <a:endParaRPr lang="en-US" sz="1500" dirty="0"/>
          </a:p>
          <a:p>
            <a:pPr marL="342900" indent="-342900">
              <a:spcAft>
                <a:spcPts val="800"/>
              </a:spcAft>
              <a:buSzPct val="100000"/>
              <a:buChar char="•"/>
            </a:pPr>
            <a:r>
              <a:rPr lang="en-US" sz="1500" dirty="0">
                <a:solidFill>
                  <a:schemeClr val="tx1"/>
                </a:solidFill>
              </a:rPr>
              <a:t>No duplicate patient records; 80-record test set locked before tuning</a:t>
            </a:r>
            <a:endParaRPr lang="en-US" sz="1500" dirty="0"/>
          </a:p>
        </p:txBody>
      </p:sp>
      <p:pic>
        <p:nvPicPr>
          <p:cNvPr id="18" name="Image 0" descr="Missing values per record by class">    </p:cNvPr>
          <p:cNvPicPr>
            <a:picLocks noChangeAspect="1"/>
          </p:cNvPicPr>
          <p:nvPr/>
        </p:nvPicPr>
        <p:blipFill>
          <a:blip r:embed="rId1"/>
          <a:stretch>
            <a:fillRect/>
          </a:stretch>
        </p:blipFill>
        <p:spPr>
          <a:xfrm>
            <a:off x="6217920" y="2834640"/>
            <a:ext cx="5394960" cy="2738980"/>
          </a:xfrm>
          <a:prstGeom prst="rect">
            <a:avLst/>
          </a:prstGeom>
        </p:spPr>
      </p:pic>
      <p:sp>
        <p:nvSpPr>
          <p:cNvPr id="19" name="Text 16"/>
          <p:cNvSpPr txBox="1"/>
          <p:nvPr/>
        </p:nvSpPr>
        <p:spPr>
          <a:xfrm>
            <a:off x="6217920" y="5623560"/>
            <a:ext cx="5394960" cy="685800"/>
          </a:xfrm>
          <a:prstGeom prst="rect">
            <a:avLst/>
          </a:prstGeom>
          <a:noFill/>
          <a:ln/>
        </p:spPr>
        <p:txBody>
          <a:bodyPr wrap="square" lIns="0" tIns="0" rIns="0" bIns="0" rtlCol="0" anchor="t"/>
          <a:lstStyle/>
          <a:p>
            <a:pPr indent="0" marL="0">
              <a:buNone/>
            </a:pPr>
            <a:r>
              <a:rPr lang="en-US" sz="1300" dirty="0">
                <a:solidFill>
                  <a:schemeClr val="accent6"/>
                </a:solidFill>
              </a:rPr>
              <a:t>In training data, CKD records miss far more values, and no non-CKD record shows any abnormal finding: the classes are unusually easy to separate (creatinine median 2.3 vs 0.9 mg/dL).</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Pipeline designed so the test set stays untouched</a:t>
            </a:r>
            <a:endParaRPr lang="en-US" sz="3000" dirty="0"/>
          </a:p>
        </p:txBody>
      </p:sp>
      <p:pic>
        <p:nvPicPr>
          <p:cNvPr id="3" name="Image 0" descr="System workflow diagram">    </p:cNvPr>
          <p:cNvPicPr>
            <a:picLocks noChangeAspect="1"/>
          </p:cNvPicPr>
          <p:nvPr/>
        </p:nvPicPr>
        <p:blipFill>
          <a:blip r:embed="rId1"/>
          <a:stretch>
            <a:fillRect/>
          </a:stretch>
        </p:blipFill>
        <p:spPr>
          <a:xfrm>
            <a:off x="640080" y="1097280"/>
            <a:ext cx="3017520" cy="5199419"/>
          </a:xfrm>
          <a:prstGeom prst="rect">
            <a:avLst/>
          </a:prstGeom>
        </p:spPr>
      </p:pic>
      <p:sp>
        <p:nvSpPr>
          <p:cNvPr id="4" name="Text 1"/>
          <p:cNvSpPr txBox="1"/>
          <p:nvPr/>
        </p:nvSpPr>
        <p:spPr>
          <a:xfrm>
            <a:off x="4206240" y="1188720"/>
            <a:ext cx="7406640" cy="457200"/>
          </a:xfrm>
          <a:prstGeom prst="rect">
            <a:avLst/>
          </a:prstGeom>
          <a:noFill/>
          <a:ln/>
        </p:spPr>
        <p:txBody>
          <a:bodyPr wrap="square" lIns="0" tIns="0" rIns="0" bIns="0" rtlCol="0" anchor="ctr"/>
          <a:lstStyle/>
          <a:p>
            <a:pPr indent="0" marL="0">
              <a:buNone/>
            </a:pPr>
            <a:r>
              <a:rPr lang="en-US" sz="2200" b="1" dirty="0">
                <a:solidFill>
                  <a:schemeClr val="tx2"/>
                </a:solidFill>
              </a:rPr>
              <a:t>How leakage is prevented</a:t>
            </a:r>
            <a:endParaRPr lang="en-US" sz="2200" dirty="0"/>
          </a:p>
        </p:txBody>
      </p:sp>
      <p:sp>
        <p:nvSpPr>
          <p:cNvPr id="5" name="check"/>
          <p:cNvSpPr/>
          <p:nvPr/>
        </p:nvSpPr>
        <p:spPr>
          <a:xfrm>
            <a:off x="4206240" y="1901952"/>
            <a:ext cx="329184" cy="329184"/>
          </a:xfrm>
          <a:prstGeom prst="ellipse">
            <a:avLst/>
          </a:prstGeom>
          <a:solidFill>
            <a:schemeClr val="accent3"/>
          </a:solidFill>
          <a:ln/>
        </p:spPr>
      </p:sp>
      <p:sp>
        <p:nvSpPr>
          <p:cNvPr id="6" name="Text 3"/>
          <p:cNvSpPr txBox="1"/>
          <p:nvPr/>
        </p:nvSpPr>
        <p:spPr>
          <a:xfrm>
            <a:off x="4206240" y="190195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7" name="Text 4"/>
          <p:cNvSpPr txBox="1"/>
          <p:nvPr/>
        </p:nvSpPr>
        <p:spPr>
          <a:xfrm>
            <a:off x="4709160" y="1828800"/>
            <a:ext cx="6949440" cy="548640"/>
          </a:xfrm>
          <a:prstGeom prst="rect">
            <a:avLst/>
          </a:prstGeom>
          <a:noFill/>
          <a:ln/>
        </p:spPr>
        <p:txBody>
          <a:bodyPr wrap="square" lIns="0" tIns="0" rIns="0" bIns="0" rtlCol="0" anchor="ctr"/>
          <a:lstStyle/>
          <a:p>
            <a:pPr indent="0" marL="0">
              <a:buNone/>
            </a:pPr>
            <a:r>
              <a:rPr lang="en-US" sz="1600" dirty="0">
                <a:solidFill>
                  <a:schemeClr val="tx1"/>
                </a:solidFill>
              </a:rPr>
              <a:t>Test set (80 records) split off and locked, with a checksum, before any tuning</a:t>
            </a:r>
            <a:endParaRPr lang="en-US" sz="1600" dirty="0"/>
          </a:p>
        </p:txBody>
      </p:sp>
      <p:sp>
        <p:nvSpPr>
          <p:cNvPr id="8" name="check"/>
          <p:cNvSpPr/>
          <p:nvPr/>
        </p:nvSpPr>
        <p:spPr>
          <a:xfrm>
            <a:off x="4206240" y="2633472"/>
            <a:ext cx="329184" cy="329184"/>
          </a:xfrm>
          <a:prstGeom prst="ellipse">
            <a:avLst/>
          </a:prstGeom>
          <a:solidFill>
            <a:schemeClr val="accent3"/>
          </a:solidFill>
          <a:ln/>
        </p:spPr>
      </p:sp>
      <p:sp>
        <p:nvSpPr>
          <p:cNvPr id="9" name="Text 6"/>
          <p:cNvSpPr txBox="1"/>
          <p:nvPr/>
        </p:nvSpPr>
        <p:spPr>
          <a:xfrm>
            <a:off x="4206240" y="263347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0" name="Text 7"/>
          <p:cNvSpPr txBox="1"/>
          <p:nvPr/>
        </p:nvSpPr>
        <p:spPr>
          <a:xfrm>
            <a:off x="4709160" y="2560320"/>
            <a:ext cx="6949440" cy="548640"/>
          </a:xfrm>
          <a:prstGeom prst="rect">
            <a:avLst/>
          </a:prstGeom>
          <a:noFill/>
          <a:ln/>
        </p:spPr>
        <p:txBody>
          <a:bodyPr wrap="square" lIns="0" tIns="0" rIns="0" bIns="0" rtlCol="0" anchor="ctr"/>
          <a:lstStyle/>
          <a:p>
            <a:pPr indent="0" marL="0">
              <a:buNone/>
            </a:pPr>
            <a:r>
              <a:rPr lang="en-US" sz="1600" dirty="0">
                <a:solidFill>
                  <a:schemeClr val="tx1"/>
                </a:solidFill>
              </a:rPr>
              <a:t>Imputation, scaling and SMOTE-NC are refitted inside every training fold</a:t>
            </a:r>
            <a:endParaRPr lang="en-US" sz="1600" dirty="0"/>
          </a:p>
        </p:txBody>
      </p:sp>
      <p:sp>
        <p:nvSpPr>
          <p:cNvPr id="11" name="check"/>
          <p:cNvSpPr/>
          <p:nvPr/>
        </p:nvSpPr>
        <p:spPr>
          <a:xfrm>
            <a:off x="4206240" y="3364992"/>
            <a:ext cx="329184" cy="329184"/>
          </a:xfrm>
          <a:prstGeom prst="ellipse">
            <a:avLst/>
          </a:prstGeom>
          <a:solidFill>
            <a:schemeClr val="accent3"/>
          </a:solidFill>
          <a:ln/>
        </p:spPr>
      </p:sp>
      <p:sp>
        <p:nvSpPr>
          <p:cNvPr id="12" name="Text 9"/>
          <p:cNvSpPr txBox="1"/>
          <p:nvPr/>
        </p:nvSpPr>
        <p:spPr>
          <a:xfrm>
            <a:off x="4206240" y="336499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3" name="Text 10"/>
          <p:cNvSpPr txBox="1"/>
          <p:nvPr/>
        </p:nvSpPr>
        <p:spPr>
          <a:xfrm>
            <a:off x="4709160" y="3291840"/>
            <a:ext cx="6949440" cy="548640"/>
          </a:xfrm>
          <a:prstGeom prst="rect">
            <a:avLst/>
          </a:prstGeom>
          <a:noFill/>
          <a:ln/>
        </p:spPr>
        <p:txBody>
          <a:bodyPr wrap="square" lIns="0" tIns="0" rIns="0" bIns="0" rtlCol="0" anchor="ctr"/>
          <a:lstStyle/>
          <a:p>
            <a:pPr indent="0" marL="0">
              <a:buNone/>
            </a:pPr>
            <a:r>
              <a:rPr lang="en-US" sz="1600" dirty="0">
                <a:solidFill>
                  <a:schemeClr val="tx1"/>
                </a:solidFill>
              </a:rPr>
              <a:t>SMOTE-NC runs only during fitting: validation and test records are never resampled</a:t>
            </a:r>
            <a:endParaRPr lang="en-US" sz="1600" dirty="0"/>
          </a:p>
        </p:txBody>
      </p:sp>
      <p:sp>
        <p:nvSpPr>
          <p:cNvPr id="14" name="check"/>
          <p:cNvSpPr/>
          <p:nvPr/>
        </p:nvSpPr>
        <p:spPr>
          <a:xfrm>
            <a:off x="4206240" y="4096512"/>
            <a:ext cx="329184" cy="329184"/>
          </a:xfrm>
          <a:prstGeom prst="ellipse">
            <a:avLst/>
          </a:prstGeom>
          <a:solidFill>
            <a:schemeClr val="accent3"/>
          </a:solidFill>
          <a:ln/>
        </p:spPr>
      </p:sp>
      <p:sp>
        <p:nvSpPr>
          <p:cNvPr id="15" name="Text 12"/>
          <p:cNvSpPr txBox="1"/>
          <p:nvPr/>
        </p:nvSpPr>
        <p:spPr>
          <a:xfrm>
            <a:off x="4206240" y="409651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6" name="Text 13"/>
          <p:cNvSpPr txBox="1"/>
          <p:nvPr/>
        </p:nvSpPr>
        <p:spPr>
          <a:xfrm>
            <a:off x="4709160" y="4023360"/>
            <a:ext cx="6949440" cy="548640"/>
          </a:xfrm>
          <a:prstGeom prst="rect">
            <a:avLst/>
          </a:prstGeom>
          <a:noFill/>
          <a:ln/>
        </p:spPr>
        <p:txBody>
          <a:bodyPr wrap="square" lIns="0" tIns="0" rIns="0" bIns="0" rtlCol="0" anchor="ctr"/>
          <a:lstStyle/>
          <a:p>
            <a:pPr indent="0" marL="0">
              <a:buNone/>
            </a:pPr>
            <a:r>
              <a:rPr lang="en-US" sz="1600" dirty="0">
                <a:solidFill>
                  <a:schemeClr val="tx1"/>
                </a:solidFill>
              </a:rPr>
              <a:t>The model is chosen from training-set cross-validation; the test set is used once</a:t>
            </a:r>
            <a:endParaRPr lang="en-US" sz="1600" dirty="0"/>
          </a:p>
        </p:txBody>
      </p:sp>
      <p:sp>
        <p:nvSpPr>
          <p:cNvPr id="17" name="check"/>
          <p:cNvSpPr/>
          <p:nvPr/>
        </p:nvSpPr>
        <p:spPr>
          <a:xfrm>
            <a:off x="4206240" y="4828032"/>
            <a:ext cx="329184" cy="329184"/>
          </a:xfrm>
          <a:prstGeom prst="ellipse">
            <a:avLst/>
          </a:prstGeom>
          <a:solidFill>
            <a:schemeClr val="accent3"/>
          </a:solidFill>
          <a:ln/>
        </p:spPr>
      </p:sp>
      <p:sp>
        <p:nvSpPr>
          <p:cNvPr id="18" name="Text 15"/>
          <p:cNvSpPr txBox="1"/>
          <p:nvPr/>
        </p:nvSpPr>
        <p:spPr>
          <a:xfrm>
            <a:off x="4206240" y="482803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9" name="Text 16"/>
          <p:cNvSpPr txBox="1"/>
          <p:nvPr/>
        </p:nvSpPr>
        <p:spPr>
          <a:xfrm>
            <a:off x="4709160" y="4754880"/>
            <a:ext cx="6949440" cy="548640"/>
          </a:xfrm>
          <a:prstGeom prst="rect">
            <a:avLst/>
          </a:prstGeom>
          <a:noFill/>
          <a:ln/>
        </p:spPr>
        <p:txBody>
          <a:bodyPr wrap="square" lIns="0" tIns="0" rIns="0" bIns="0" rtlCol="0" anchor="ctr"/>
          <a:lstStyle/>
          <a:p>
            <a:pPr indent="0" marL="0">
              <a:buNone/>
            </a:pPr>
            <a:r>
              <a:rPr lang="en-US" sz="1600" dirty="0">
                <a:solidFill>
                  <a:schemeClr val="tx1"/>
                </a:solidFill>
              </a:rPr>
              <a:t>Record ID and target are excluded from the predictors</a:t>
            </a:r>
            <a:endParaRPr lang="en-US" sz="1600" dirty="0"/>
          </a:p>
        </p:txBody>
      </p:sp>
      <p:sp>
        <p:nvSpPr>
          <p:cNvPr id="20" name="check"/>
          <p:cNvSpPr/>
          <p:nvPr/>
        </p:nvSpPr>
        <p:spPr>
          <a:xfrm>
            <a:off x="4206240" y="5559552"/>
            <a:ext cx="329184" cy="329184"/>
          </a:xfrm>
          <a:prstGeom prst="ellipse">
            <a:avLst/>
          </a:prstGeom>
          <a:solidFill>
            <a:schemeClr val="accent3"/>
          </a:solidFill>
          <a:ln/>
        </p:spPr>
      </p:sp>
      <p:sp>
        <p:nvSpPr>
          <p:cNvPr id="21" name="Text 18"/>
          <p:cNvSpPr txBox="1"/>
          <p:nvPr/>
        </p:nvSpPr>
        <p:spPr>
          <a:xfrm>
            <a:off x="4206240" y="555955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2" name="Text 19"/>
          <p:cNvSpPr txBox="1"/>
          <p:nvPr/>
        </p:nvSpPr>
        <p:spPr>
          <a:xfrm>
            <a:off x="4709160" y="5486400"/>
            <a:ext cx="6949440" cy="548640"/>
          </a:xfrm>
          <a:prstGeom prst="rect">
            <a:avLst/>
          </a:prstGeom>
          <a:noFill/>
          <a:ln/>
        </p:spPr>
        <p:txBody>
          <a:bodyPr wrap="square" lIns="0" tIns="0" rIns="0" bIns="0" rtlCol="0" anchor="ctr"/>
          <a:lstStyle/>
          <a:p>
            <a:pPr indent="0" marL="0">
              <a:buNone/>
            </a:pPr>
            <a:r>
              <a:rPr lang="en-US" sz="1600" dirty="0">
                <a:solidFill>
                  <a:schemeClr val="tx1"/>
                </a:solidFill>
              </a:rPr>
              <a:t>Automated audit: 11 / 11 checks passed; shuffled labels give CV ROC-AUC 0.505</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Four models, one selection rule fixed in advance</a:t>
            </a:r>
            <a:endParaRPr lang="en-US" sz="3000" dirty="0"/>
          </a:p>
        </p:txBody>
      </p:sp>
      <p:sp>
        <p:nvSpPr>
          <p:cNvPr id="3" name="card"/>
          <p:cNvSpPr/>
          <p:nvPr/>
        </p:nvSpPr>
        <p:spPr>
          <a:xfrm>
            <a:off x="548640" y="1188720"/>
            <a:ext cx="2606040" cy="1143000"/>
          </a:xfrm>
          <a:prstGeom prst="roundRect">
            <a:avLst>
              <a:gd name="adj" fmla="val 9600"/>
            </a:avLst>
          </a:prstGeom>
          <a:solidFill>
            <a:schemeClr val="bg2"/>
          </a:solidFill>
          <a:ln/>
        </p:spPr>
      </p:sp>
      <p:sp>
        <p:nvSpPr>
          <p:cNvPr id="4" name="Text 2"/>
          <p:cNvSpPr txBox="1"/>
          <p:nvPr/>
        </p:nvSpPr>
        <p:spPr>
          <a:xfrm>
            <a:off x="731520" y="1298448"/>
            <a:ext cx="2286000" cy="960120"/>
          </a:xfrm>
          <a:prstGeom prst="rect">
            <a:avLst/>
          </a:prstGeom>
          <a:noFill/>
          <a:ln/>
        </p:spPr>
        <p:txBody>
          <a:bodyPr wrap="square" lIns="0" tIns="0" rIns="0" bIns="0" rtlCol="0" anchor="t"/>
          <a:lstStyle/>
          <a:p>
            <a:pPr indent="0" marL="0">
              <a:buNone/>
            </a:pPr>
            <a:r>
              <a:rPr lang="en-US" sz="1600" b="1" dirty="0">
                <a:solidFill>
                  <a:schemeClr val="tx2"/>
                </a:solidFill>
              </a:rPr>
              <a:t>Logistic Regression</a:t>
            </a:r>
            <a:endParaRPr lang="en-US" sz="1600" dirty="0"/>
          </a:p>
          <a:p>
            <a:pPr indent="0" marL="0">
              <a:buNone/>
            </a:pPr>
            <a:r>
              <a:rPr lang="en-US" sz="1300" dirty="0">
                <a:solidFill>
                  <a:schemeClr val="tx1"/>
                </a:solidFill>
              </a:rPr>
              <a:t>L2 penalty, C = 0.1</a:t>
            </a:r>
            <a:endParaRPr lang="en-US" sz="1600" dirty="0"/>
          </a:p>
        </p:txBody>
      </p:sp>
      <p:sp>
        <p:nvSpPr>
          <p:cNvPr id="5" name="card"/>
          <p:cNvSpPr/>
          <p:nvPr/>
        </p:nvSpPr>
        <p:spPr>
          <a:xfrm>
            <a:off x="3337560" y="1188720"/>
            <a:ext cx="2606040" cy="1143000"/>
          </a:xfrm>
          <a:prstGeom prst="roundRect">
            <a:avLst>
              <a:gd name="adj" fmla="val 9600"/>
            </a:avLst>
          </a:prstGeom>
          <a:solidFill>
            <a:schemeClr val="bg2"/>
          </a:solidFill>
          <a:ln/>
        </p:spPr>
      </p:sp>
      <p:sp>
        <p:nvSpPr>
          <p:cNvPr id="6" name="Text 4"/>
          <p:cNvSpPr txBox="1"/>
          <p:nvPr/>
        </p:nvSpPr>
        <p:spPr>
          <a:xfrm>
            <a:off x="3520440" y="1298448"/>
            <a:ext cx="2286000" cy="960120"/>
          </a:xfrm>
          <a:prstGeom prst="rect">
            <a:avLst/>
          </a:prstGeom>
          <a:noFill/>
          <a:ln/>
        </p:spPr>
        <p:txBody>
          <a:bodyPr wrap="square" lIns="0" tIns="0" rIns="0" bIns="0" rtlCol="0" anchor="t"/>
          <a:lstStyle/>
          <a:p>
            <a:pPr indent="0" marL="0">
              <a:buNone/>
            </a:pPr>
            <a:r>
              <a:rPr lang="en-US" sz="1600" b="1" dirty="0">
                <a:solidFill>
                  <a:schemeClr val="tx2"/>
                </a:solidFill>
              </a:rPr>
              <a:t>SVM</a:t>
            </a:r>
            <a:endParaRPr lang="en-US" sz="1600" dirty="0"/>
          </a:p>
          <a:p>
            <a:pPr indent="0" marL="0">
              <a:buNone/>
            </a:pPr>
            <a:r>
              <a:rPr lang="en-US" sz="1300" dirty="0">
                <a:solidFill>
                  <a:schemeClr val="tx1"/>
                </a:solidFill>
              </a:rPr>
              <a:t>RBF kernel, C = 1, gamma = scale</a:t>
            </a:r>
            <a:endParaRPr lang="en-US" sz="1600" dirty="0"/>
          </a:p>
        </p:txBody>
      </p:sp>
      <p:sp>
        <p:nvSpPr>
          <p:cNvPr id="7" name="card"/>
          <p:cNvSpPr/>
          <p:nvPr/>
        </p:nvSpPr>
        <p:spPr>
          <a:xfrm>
            <a:off x="6126480" y="1188720"/>
            <a:ext cx="2606040" cy="1143000"/>
          </a:xfrm>
          <a:prstGeom prst="roundRect">
            <a:avLst>
              <a:gd name="adj" fmla="val 9600"/>
            </a:avLst>
          </a:prstGeom>
          <a:solidFill>
            <a:schemeClr val="bg2"/>
          </a:solidFill>
          <a:ln w="19050">
            <a:solidFill>
              <a:schemeClr val="accent3"/>
            </a:solidFill>
            <a:prstDash val="solid"/>
          </a:ln>
        </p:spPr>
      </p:sp>
      <p:sp>
        <p:nvSpPr>
          <p:cNvPr id="8" name="Text 6"/>
          <p:cNvSpPr txBox="1"/>
          <p:nvPr/>
        </p:nvSpPr>
        <p:spPr>
          <a:xfrm>
            <a:off x="6309360" y="1298448"/>
            <a:ext cx="2286000" cy="960120"/>
          </a:xfrm>
          <a:prstGeom prst="rect">
            <a:avLst/>
          </a:prstGeom>
          <a:noFill/>
          <a:ln/>
        </p:spPr>
        <p:txBody>
          <a:bodyPr wrap="square" lIns="0" tIns="0" rIns="0" bIns="0" rtlCol="0" anchor="t"/>
          <a:lstStyle/>
          <a:p>
            <a:pPr indent="0" marL="0">
              <a:buNone/>
            </a:pPr>
            <a:r>
              <a:rPr lang="en-US" sz="1600" b="1" dirty="0">
                <a:solidFill>
                  <a:schemeClr val="accent3"/>
                </a:solidFill>
              </a:rPr>
              <a:t>Random Forest  (selected)</a:t>
            </a:r>
            <a:endParaRPr lang="en-US" sz="1600" dirty="0"/>
          </a:p>
          <a:p>
            <a:pPr indent="0" marL="0">
              <a:buNone/>
            </a:pPr>
            <a:r>
              <a:rPr lang="en-US" sz="1300" dirty="0">
                <a:solidFill>
                  <a:schemeClr val="tx1"/>
                </a:solidFill>
              </a:rPr>
              <a:t>300 trees, full depth, sqrt features/split</a:t>
            </a:r>
            <a:endParaRPr lang="en-US" sz="1600" dirty="0"/>
          </a:p>
        </p:txBody>
      </p:sp>
      <p:sp>
        <p:nvSpPr>
          <p:cNvPr id="9" name="card"/>
          <p:cNvSpPr/>
          <p:nvPr/>
        </p:nvSpPr>
        <p:spPr>
          <a:xfrm>
            <a:off x="8915400" y="1188720"/>
            <a:ext cx="2606040" cy="1143000"/>
          </a:xfrm>
          <a:prstGeom prst="roundRect">
            <a:avLst>
              <a:gd name="adj" fmla="val 9600"/>
            </a:avLst>
          </a:prstGeom>
          <a:solidFill>
            <a:schemeClr val="bg2"/>
          </a:solidFill>
          <a:ln/>
        </p:spPr>
      </p:sp>
      <p:sp>
        <p:nvSpPr>
          <p:cNvPr id="10" name="Text 8"/>
          <p:cNvSpPr txBox="1"/>
          <p:nvPr/>
        </p:nvSpPr>
        <p:spPr>
          <a:xfrm>
            <a:off x="9098280" y="1298448"/>
            <a:ext cx="2286000" cy="960120"/>
          </a:xfrm>
          <a:prstGeom prst="rect">
            <a:avLst/>
          </a:prstGeom>
          <a:noFill/>
          <a:ln/>
        </p:spPr>
        <p:txBody>
          <a:bodyPr wrap="square" lIns="0" tIns="0" rIns="0" bIns="0" rtlCol="0" anchor="t"/>
          <a:lstStyle/>
          <a:p>
            <a:pPr indent="0" marL="0">
              <a:buNone/>
            </a:pPr>
            <a:r>
              <a:rPr lang="en-US" sz="1600" b="1" dirty="0">
                <a:solidFill>
                  <a:schemeClr val="tx2"/>
                </a:solidFill>
              </a:rPr>
              <a:t>XGBoost</a:t>
            </a:r>
            <a:endParaRPr lang="en-US" sz="1600" dirty="0"/>
          </a:p>
          <a:p>
            <a:pPr indent="0" marL="0">
              <a:buNone/>
            </a:pPr>
            <a:r>
              <a:rPr lang="en-US" sz="1300" dirty="0">
                <a:solidFill>
                  <a:schemeClr val="tx1"/>
                </a:solidFill>
              </a:rPr>
              <a:t>100 trees, depth 2, learning rate 0.05</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6858000" cy="914400"/>
        </p:xfrm>
        <a:graphic>
          <a:graphicData uri="http://schemas.openxmlformats.org/drawingml/2006/table">
            <a:tbl>
              <a:tblPr/>
              <a:tblGrid>
                <a:gridCol w="2194560"/>
                <a:gridCol w="1554480"/>
                <a:gridCol w="1554480"/>
                <a:gridCol w="1554480"/>
              </a:tblGrid>
              <a:tr h="502920">
                <a:tc>
                  <a:txBody>
                    <a:bodyPr/>
                    <a:lstStyle/>
                    <a:p>
                      <a:pPr algn="l" indent="0" marL="0">
                        <a:buNone/>
                      </a:pPr>
                      <a:r>
                        <a:rPr lang="en-US" sz="1400" b="1" dirty="0">
                          <a:solidFill>
                            <a:schemeClr val="bg1"/>
                          </a:solidFill>
                        </a:rPr>
                        <a:t>5-fold CV (mean ± SD)</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ROC-AUC</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Recall</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F1-score</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tx2"/>
                    </a:solidFill>
                  </a:tcPr>
                </a:tc>
              </a:tr>
              <a:tr h="502920">
                <a:tc>
                  <a:txBody>
                    <a:bodyPr/>
                    <a:lstStyle/>
                    <a:p>
                      <a:pPr algn="l" indent="0" marL="0">
                        <a:buNone/>
                      </a:pPr>
                      <a:r>
                        <a:rPr lang="en-US" sz="1400" dirty="0">
                          <a:solidFill>
                            <a:schemeClr val="tx1"/>
                          </a:solidFill>
                        </a:rPr>
                        <a:t>Logistic Regression</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0.999 ± 0.001</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0.960 ± 0.041</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0.979 ± 0.021</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rPr>
                        <a:t>SVM</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1.000 ± 0.000</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0.985 ± 0.030</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0.992 ± 0.016</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bg1"/>
                    </a:solidFill>
                  </a:tcPr>
                </a:tc>
              </a:tr>
              <a:tr h="502920">
                <a:tc>
                  <a:txBody>
                    <a:bodyPr/>
                    <a:lstStyle/>
                    <a:p>
                      <a:pPr algn="l" indent="0" marL="0">
                        <a:buNone/>
                      </a:pPr>
                      <a:r>
                        <a:rPr lang="en-US" sz="1400" b="1" dirty="0">
                          <a:solidFill>
                            <a:schemeClr val="tx1"/>
                          </a:solidFill>
                        </a:rPr>
                        <a:t>Random Forest</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rPr>
                        <a:t>0.999 ± 0.001</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rPr>
                        <a:t>1.000 ± 0.000</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rPr>
                        <a:t>0.995 ± 0.006</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bg2"/>
                    </a:solidFill>
                  </a:tcPr>
                </a:tc>
              </a:tr>
              <a:tr h="502920">
                <a:tc>
                  <a:txBody>
                    <a:bodyPr/>
                    <a:lstStyle/>
                    <a:p>
                      <a:pPr algn="l" indent="0" marL="0">
                        <a:buNone/>
                      </a:pPr>
                      <a:r>
                        <a:rPr lang="en-US" sz="1400" dirty="0">
                          <a:solidFill>
                            <a:schemeClr val="tx1"/>
                          </a:solidFill>
                        </a:rPr>
                        <a:t>XGBoost</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0.999 ± 0.002</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0.985 ± 0.012</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0.985 ± 0.012</a:t>
                      </a:r>
                      <a:endParaRPr lang="en-US" sz="1400" dirty="0"/>
                    </a:p>
                  </a:txBody>
                  <a:tcPr marL="91440" marR="91440" marT="45720" marB="4572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chemeClr val="bg1"/>
                    </a:solidFill>
                  </a:tcPr>
                </a:tc>
              </a:tr>
            </a:tbl>
          </a:graphicData>
        </a:graphic>
      </p:graphicFrame>
      <p:sp>
        <p:nvSpPr>
          <p:cNvPr id="12" name="card"/>
          <p:cNvSpPr/>
          <p:nvPr/>
        </p:nvSpPr>
        <p:spPr>
          <a:xfrm>
            <a:off x="7680960" y="2697480"/>
            <a:ext cx="3931920" cy="2514600"/>
          </a:xfrm>
          <a:prstGeom prst="roundRect">
            <a:avLst>
              <a:gd name="adj" fmla="val 4364"/>
            </a:avLst>
          </a:prstGeom>
          <a:solidFill>
            <a:schemeClr val="bg2"/>
          </a:solidFill>
          <a:ln/>
        </p:spPr>
      </p:sp>
      <p:sp>
        <p:nvSpPr>
          <p:cNvPr id="13" name="Text 10"/>
          <p:cNvSpPr txBox="1"/>
          <p:nvPr/>
        </p:nvSpPr>
        <p:spPr>
          <a:xfrm>
            <a:off x="7863840" y="2834640"/>
            <a:ext cx="3566160" cy="411480"/>
          </a:xfrm>
          <a:prstGeom prst="rect">
            <a:avLst/>
          </a:prstGeom>
          <a:noFill/>
          <a:ln/>
        </p:spPr>
        <p:txBody>
          <a:bodyPr wrap="square" lIns="0" tIns="0" rIns="0" bIns="0" rtlCol="0" anchor="ctr"/>
          <a:lstStyle/>
          <a:p>
            <a:pPr indent="0" marL="0">
              <a:buNone/>
            </a:pPr>
            <a:r>
              <a:rPr lang="en-US" sz="1700" b="1" dirty="0">
                <a:solidFill>
                  <a:schemeClr val="tx2"/>
                </a:solidFill>
              </a:rPr>
              <a:t>Rule (written before any score)</a:t>
            </a:r>
            <a:endParaRPr lang="en-US" sz="1700" dirty="0"/>
          </a:p>
        </p:txBody>
      </p:sp>
      <p:sp>
        <p:nvSpPr>
          <p:cNvPr id="14" name="Text 11"/>
          <p:cNvSpPr txBox="1"/>
          <p:nvPr/>
        </p:nvSpPr>
        <p:spPr>
          <a:xfrm>
            <a:off x="7863840" y="3337560"/>
            <a:ext cx="3611880" cy="1783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chemeClr val="tx1"/>
                </a:solidFill>
              </a:rPr>
              <a:t>Highest mean CV ROC-AUC wins</a:t>
            </a:r>
            <a:endParaRPr lang="en-US" sz="1500" dirty="0"/>
          </a:p>
          <a:p>
            <a:pPr marL="342900" indent="-342900">
              <a:spcAft>
                <a:spcPts val="800"/>
              </a:spcAft>
              <a:buSzPct val="100000"/>
              <a:buFont typeface="+mj-lt"/>
              <a:buAutoNum type="arabicPeriod" startAt="1"/>
            </a:pPr>
            <a:r>
              <a:rPr lang="en-US" sz="1500" dirty="0">
                <a:solidFill>
                  <a:schemeClr val="tx1"/>
                </a:solidFill>
              </a:rPr>
              <a:t>Within 0.005: tied, ranked by recall, then F1</a:t>
            </a:r>
            <a:endParaRPr lang="en-US" sz="1500" dirty="0"/>
          </a:p>
          <a:p>
            <a:pPr indent="0" marL="0">
              <a:spcAft>
                <a:spcPts val="800"/>
              </a:spcAft>
              <a:buNone/>
            </a:pPr>
            <a:r>
              <a:rPr lang="en-US" sz="1500" b="1" dirty="0">
                <a:solidFill>
                  <a:schemeClr val="accent3"/>
                </a:solidFill>
              </a:rPr>
              <a:t>All four tied (0.9988–1.0000): Random Forest wins on recall (1.000)</a:t>
            </a:r>
            <a:endParaRPr lang="en-US" sz="1500" dirty="0"/>
          </a:p>
        </p:txBody>
      </p:sp>
      <p:sp>
        <p:nvSpPr>
          <p:cNvPr id="15" name="Text 12"/>
          <p:cNvSpPr txBox="1"/>
          <p:nvPr/>
        </p:nvSpPr>
        <p:spPr>
          <a:xfrm>
            <a:off x="548640" y="5440680"/>
            <a:ext cx="11064240" cy="548640"/>
          </a:xfrm>
          <a:prstGeom prst="rect">
            <a:avLst/>
          </a:prstGeom>
          <a:noFill/>
          <a:ln/>
        </p:spPr>
        <p:txBody>
          <a:bodyPr wrap="square" lIns="0" tIns="0" rIns="0" bIns="0" rtlCol="0" anchor="t"/>
          <a:lstStyle/>
          <a:p>
            <a:pPr indent="0" marL="0">
              <a:buNone/>
            </a:pPr>
            <a:r>
              <a:rPr lang="en-US" sz="1400" i="1" dirty="0">
                <a:solidFill>
                  <a:schemeClr val="accent6"/>
                </a:solidFill>
              </a:rPr>
              <a:t>The synopsis proposed picking the best test score; selecting on training CV keeps the test estimate unbiased.</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Untouched test set: near-perfect, with honest uncertainty</a:t>
            </a:r>
            <a:endParaRPr lang="en-US" sz="3000" dirty="0"/>
          </a:p>
        </p:txBody>
      </p:sp>
      <p:sp>
        <p:nvSpPr>
          <p:cNvPr id="3" name="card"/>
          <p:cNvSpPr/>
          <p:nvPr/>
        </p:nvSpPr>
        <p:spPr>
          <a:xfrm>
            <a:off x="548640" y="1188720"/>
            <a:ext cx="4206240" cy="1463040"/>
          </a:xfrm>
          <a:prstGeom prst="roundRect">
            <a:avLst>
              <a:gd name="adj" fmla="val 7500"/>
            </a:avLst>
          </a:prstGeom>
          <a:solidFill>
            <a:schemeClr val="bg2"/>
          </a:solidFill>
          <a:ln/>
        </p:spPr>
      </p:sp>
      <p:sp>
        <p:nvSpPr>
          <p:cNvPr id="4" name="Text 2"/>
          <p:cNvSpPr txBox="1"/>
          <p:nvPr/>
        </p:nvSpPr>
        <p:spPr>
          <a:xfrm>
            <a:off x="777240" y="1188720"/>
            <a:ext cx="3840480" cy="731520"/>
          </a:xfrm>
          <a:prstGeom prst="rect">
            <a:avLst/>
          </a:prstGeom>
          <a:noFill/>
          <a:ln/>
        </p:spPr>
        <p:txBody>
          <a:bodyPr wrap="square" lIns="0" tIns="0" rIns="0" bIns="0" rtlCol="0" anchor="b"/>
          <a:lstStyle/>
          <a:p>
            <a:pPr indent="0" marL="0">
              <a:buNone/>
            </a:pPr>
            <a:r>
              <a:rPr lang="en-US" sz="3600" b="1" dirty="0">
                <a:solidFill>
                  <a:schemeClr val="accent3"/>
                </a:solidFill>
                <a:latin typeface="Cambria" pitchFamily="34" charset="0"/>
                <a:ea typeface="Cambria" pitchFamily="34" charset="-122"/>
                <a:cs typeface="Cambria" pitchFamily="34" charset="-120"/>
              </a:rPr>
              <a:t>80 / 80</a:t>
            </a:r>
            <a:endParaRPr lang="en-US" sz="3600" dirty="0"/>
          </a:p>
        </p:txBody>
      </p:sp>
      <p:sp>
        <p:nvSpPr>
          <p:cNvPr id="5" name="Text 3"/>
          <p:cNvSpPr txBox="1"/>
          <p:nvPr/>
        </p:nvSpPr>
        <p:spPr>
          <a:xfrm>
            <a:off x="777240" y="1965960"/>
            <a:ext cx="3840480" cy="548640"/>
          </a:xfrm>
          <a:prstGeom prst="rect">
            <a:avLst/>
          </a:prstGeom>
          <a:noFill/>
          <a:ln/>
        </p:spPr>
        <p:txBody>
          <a:bodyPr wrap="square" lIns="0" tIns="0" rIns="0" bIns="0" rtlCol="0" anchor="t"/>
          <a:lstStyle/>
          <a:p>
            <a:pPr indent="0" marL="0">
              <a:buNone/>
            </a:pPr>
            <a:r>
              <a:rPr lang="en-US" sz="1400" dirty="0">
                <a:solidFill>
                  <a:schemeClr val="tx1"/>
                </a:solidFill>
              </a:rPr>
              <a:t>test records correct for Random Forest (also SVM and XGBoost)</a:t>
            </a:r>
            <a:endParaRPr lang="en-US" sz="1400" dirty="0"/>
          </a:p>
        </p:txBody>
      </p:sp>
      <p:sp>
        <p:nvSpPr>
          <p:cNvPr id="6" name="card"/>
          <p:cNvSpPr/>
          <p:nvPr/>
        </p:nvSpPr>
        <p:spPr>
          <a:xfrm>
            <a:off x="548640" y="2834640"/>
            <a:ext cx="4206240" cy="1463040"/>
          </a:xfrm>
          <a:prstGeom prst="roundRect">
            <a:avLst>
              <a:gd name="adj" fmla="val 7500"/>
            </a:avLst>
          </a:prstGeom>
          <a:solidFill>
            <a:schemeClr val="bg2"/>
          </a:solidFill>
          <a:ln/>
        </p:spPr>
      </p:sp>
      <p:sp>
        <p:nvSpPr>
          <p:cNvPr id="7" name="Text 5"/>
          <p:cNvSpPr txBox="1"/>
          <p:nvPr/>
        </p:nvSpPr>
        <p:spPr>
          <a:xfrm>
            <a:off x="777240" y="2834640"/>
            <a:ext cx="3840480" cy="731520"/>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0.955–1.000</a:t>
            </a:r>
            <a:endParaRPr lang="en-US" sz="3600" dirty="0"/>
          </a:p>
        </p:txBody>
      </p:sp>
      <p:sp>
        <p:nvSpPr>
          <p:cNvPr id="8" name="Text 6"/>
          <p:cNvSpPr txBox="1"/>
          <p:nvPr/>
        </p:nvSpPr>
        <p:spPr>
          <a:xfrm>
            <a:off x="777240" y="3611880"/>
            <a:ext cx="3840480" cy="548640"/>
          </a:xfrm>
          <a:prstGeom prst="rect">
            <a:avLst/>
          </a:prstGeom>
          <a:noFill/>
          <a:ln/>
        </p:spPr>
        <p:txBody>
          <a:bodyPr wrap="square" lIns="0" tIns="0" rIns="0" bIns="0" rtlCol="0" anchor="t"/>
          <a:lstStyle/>
          <a:p>
            <a:pPr indent="0" marL="0">
              <a:buNone/>
            </a:pPr>
            <a:r>
              <a:rPr lang="en-US" sz="1400" dirty="0">
                <a:solidFill>
                  <a:schemeClr val="tx1"/>
                </a:solidFill>
              </a:rPr>
              <a:t>exact 95% CI for Random Forest accuracy</a:t>
            </a:r>
            <a:endParaRPr lang="en-US" sz="1400" dirty="0"/>
          </a:p>
        </p:txBody>
      </p:sp>
      <p:sp>
        <p:nvSpPr>
          <p:cNvPr id="9" name="card"/>
          <p:cNvSpPr/>
          <p:nvPr/>
        </p:nvSpPr>
        <p:spPr>
          <a:xfrm>
            <a:off x="548640" y="4480560"/>
            <a:ext cx="4206240" cy="1463040"/>
          </a:xfrm>
          <a:prstGeom prst="roundRect">
            <a:avLst>
              <a:gd name="adj" fmla="val 7500"/>
            </a:avLst>
          </a:prstGeom>
          <a:solidFill>
            <a:schemeClr val="bg2"/>
          </a:solidFill>
          <a:ln/>
        </p:spPr>
      </p:sp>
      <p:sp>
        <p:nvSpPr>
          <p:cNvPr id="10" name="Text 8"/>
          <p:cNvSpPr txBox="1"/>
          <p:nvPr/>
        </p:nvSpPr>
        <p:spPr>
          <a:xfrm>
            <a:off x="777240" y="4480560"/>
            <a:ext cx="3840480" cy="73152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2</a:t>
            </a:r>
            <a:endParaRPr lang="en-US" sz="3600" dirty="0"/>
          </a:p>
        </p:txBody>
      </p:sp>
      <p:sp>
        <p:nvSpPr>
          <p:cNvPr id="11" name="Text 9"/>
          <p:cNvSpPr txBox="1"/>
          <p:nvPr/>
        </p:nvSpPr>
        <p:spPr>
          <a:xfrm>
            <a:off x="777240" y="5257800"/>
            <a:ext cx="3840480" cy="548640"/>
          </a:xfrm>
          <a:prstGeom prst="rect">
            <a:avLst/>
          </a:prstGeom>
          <a:noFill/>
          <a:ln/>
        </p:spPr>
        <p:txBody>
          <a:bodyPr wrap="square" lIns="0" tIns="0" rIns="0" bIns="0" rtlCol="0" anchor="t"/>
          <a:lstStyle/>
          <a:p>
            <a:pPr indent="0" marL="0">
              <a:buNone/>
            </a:pPr>
            <a:r>
              <a:rPr lang="en-US" sz="1400" dirty="0">
                <a:solidFill>
                  <a:schemeClr val="tx1"/>
                </a:solidFill>
              </a:rPr>
              <a:t>CKD cases missed by Logistic Regression (no FP)</a:t>
            </a:r>
            <a:endParaRPr lang="en-US" sz="1400" dirty="0"/>
          </a:p>
        </p:txBody>
      </p:sp>
      <p:pic>
        <p:nvPicPr>
          <p:cNvPr id="12" name="Image 0" descr="Predicted CKD probabilities by true class">    </p:cNvPr>
          <p:cNvPicPr>
            <a:picLocks noChangeAspect="1"/>
          </p:cNvPicPr>
          <p:nvPr/>
        </p:nvPicPr>
        <p:blipFill>
          <a:blip r:embed="rId1"/>
          <a:stretch>
            <a:fillRect/>
          </a:stretch>
        </p:blipFill>
        <p:spPr>
          <a:xfrm>
            <a:off x="5120640" y="1188720"/>
            <a:ext cx="6492240" cy="4294866"/>
          </a:xfrm>
          <a:prstGeom prst="rect">
            <a:avLst/>
          </a:prstGeom>
        </p:spPr>
      </p:pic>
      <p:sp>
        <p:nvSpPr>
          <p:cNvPr id="13" name="Text 10"/>
          <p:cNvSpPr txBox="1"/>
          <p:nvPr/>
        </p:nvSpPr>
        <p:spPr>
          <a:xfrm>
            <a:off x="5120640" y="5577840"/>
            <a:ext cx="6492240" cy="685800"/>
          </a:xfrm>
          <a:prstGeom prst="rect">
            <a:avLst/>
          </a:prstGeom>
          <a:noFill/>
          <a:ln/>
        </p:spPr>
        <p:txBody>
          <a:bodyPr wrap="square" lIns="0" tIns="0" rIns="0" bIns="0" rtlCol="0" anchor="t"/>
          <a:lstStyle/>
          <a:p>
            <a:pPr indent="0" marL="0">
              <a:buNone/>
            </a:pPr>
            <a:r>
              <a:rPr lang="en-US" sz="1400" dirty="0">
                <a:solidFill>
                  <a:schemeClr val="tx1"/>
                </a:solidFill>
              </a:rPr>
              <a:t>Perfect accuracy hides a near miss: non-CKD record 324 scored 0.397 (Random Forest) and 0.497 (XGBoost), just below the 0.5 threshold.</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Checks that keep the results honest</a:t>
            </a:r>
            <a:endParaRPr lang="en-US" sz="3000" dirty="0"/>
          </a:p>
        </p:txBody>
      </p:sp>
      <p:sp>
        <p:nvSpPr>
          <p:cNvPr id="3" name="card"/>
          <p:cNvSpPr/>
          <p:nvPr/>
        </p:nvSpPr>
        <p:spPr>
          <a:xfrm>
            <a:off x="548640" y="1188720"/>
            <a:ext cx="5440680" cy="2377440"/>
          </a:xfrm>
          <a:prstGeom prst="roundRect">
            <a:avLst>
              <a:gd name="adj" fmla="val 4615"/>
            </a:avLst>
          </a:prstGeom>
          <a:solidFill>
            <a:schemeClr val="bg2"/>
          </a:solidFill>
          <a:ln/>
        </p:spPr>
      </p:sp>
      <p:sp>
        <p:nvSpPr>
          <p:cNvPr id="4" name="Text 2"/>
          <p:cNvSpPr txBox="1"/>
          <p:nvPr/>
        </p:nvSpPr>
        <p:spPr>
          <a:xfrm>
            <a:off x="822960" y="1371600"/>
            <a:ext cx="2103120" cy="822960"/>
          </a:xfrm>
          <a:prstGeom prst="rect">
            <a:avLst/>
          </a:prstGeom>
          <a:noFill/>
          <a:ln/>
        </p:spPr>
        <p:txBody>
          <a:bodyPr wrap="square" lIns="0" tIns="0" rIns="0" bIns="0" rtlCol="0" anchor="ctr"/>
          <a:lstStyle/>
          <a:p>
            <a:pPr indent="0" marL="0">
              <a:buNone/>
            </a:pPr>
            <a:r>
              <a:rPr lang="en-US" sz="4000" b="1" dirty="0">
                <a:solidFill>
                  <a:schemeClr val="accent6"/>
                </a:solidFill>
                <a:latin typeface="Cambria" pitchFamily="34" charset="0"/>
                <a:ea typeface="Cambria" pitchFamily="34" charset="-122"/>
                <a:cs typeface="Cambria" pitchFamily="34" charset="-120"/>
              </a:rPr>
              <a:t>No gain</a:t>
            </a:r>
            <a:endParaRPr lang="en-US" sz="4000" dirty="0"/>
          </a:p>
        </p:txBody>
      </p:sp>
      <p:sp>
        <p:nvSpPr>
          <p:cNvPr id="5" name="Text 3"/>
          <p:cNvSpPr txBox="1"/>
          <p:nvPr/>
        </p:nvSpPr>
        <p:spPr>
          <a:xfrm>
            <a:off x="3017520" y="1417320"/>
            <a:ext cx="2743200" cy="731520"/>
          </a:xfrm>
          <a:prstGeom prst="rect">
            <a:avLst/>
          </a:prstGeom>
          <a:noFill/>
          <a:ln/>
        </p:spPr>
        <p:txBody>
          <a:bodyPr wrap="square" lIns="0" tIns="0" rIns="0" bIns="0" rtlCol="0" anchor="ctr"/>
          <a:lstStyle/>
          <a:p>
            <a:pPr indent="0" marL="0">
              <a:buNone/>
            </a:pPr>
            <a:r>
              <a:rPr lang="en-US" sz="1700" b="1" dirty="0">
                <a:solidFill>
                  <a:schemeClr val="tx2"/>
                </a:solidFill>
              </a:rPr>
              <a:t>SMOTE-NC vs no resampling</a:t>
            </a:r>
            <a:endParaRPr lang="en-US" sz="1700" dirty="0"/>
          </a:p>
        </p:txBody>
      </p:sp>
      <p:sp>
        <p:nvSpPr>
          <p:cNvPr id="6" name="Text 4"/>
          <p:cNvSpPr txBox="1"/>
          <p:nvPr/>
        </p:nvSpPr>
        <p:spPr>
          <a:xfrm>
            <a:off x="822960" y="2286000"/>
            <a:ext cx="4892040" cy="1143000"/>
          </a:xfrm>
          <a:prstGeom prst="rect">
            <a:avLst/>
          </a:prstGeom>
          <a:noFill/>
          <a:ln/>
        </p:spPr>
        <p:txBody>
          <a:bodyPr wrap="square" lIns="0" tIns="0" rIns="0" bIns="0" rtlCol="0" anchor="t"/>
          <a:lstStyle/>
          <a:p>
            <a:pPr indent="0" marL="0">
              <a:buNone/>
            </a:pPr>
            <a:r>
              <a:rPr lang="en-US" sz="1500" dirty="0">
                <a:solidFill>
                  <a:schemeClr val="tx1"/>
                </a:solidFill>
              </a:rPr>
              <a:t>Same folds and settings: recall and F1 changed by at most 0.010, within one fold SD. Kept as specified, no benefit claimed.</a:t>
            </a:r>
            <a:endParaRPr lang="en-US" sz="1500" dirty="0"/>
          </a:p>
        </p:txBody>
      </p:sp>
      <p:sp>
        <p:nvSpPr>
          <p:cNvPr id="7" name="card"/>
          <p:cNvSpPr/>
          <p:nvPr/>
        </p:nvSpPr>
        <p:spPr>
          <a:xfrm>
            <a:off x="6172200" y="1188720"/>
            <a:ext cx="5440680" cy="2377440"/>
          </a:xfrm>
          <a:prstGeom prst="roundRect">
            <a:avLst>
              <a:gd name="adj" fmla="val 4615"/>
            </a:avLst>
          </a:prstGeom>
          <a:solidFill>
            <a:schemeClr val="bg2"/>
          </a:solidFill>
          <a:ln/>
        </p:spPr>
      </p:sp>
      <p:sp>
        <p:nvSpPr>
          <p:cNvPr id="8" name="Text 6"/>
          <p:cNvSpPr txBox="1"/>
          <p:nvPr/>
        </p:nvSpPr>
        <p:spPr>
          <a:xfrm>
            <a:off x="6446520" y="1371600"/>
            <a:ext cx="210312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0.864</a:t>
            </a:r>
            <a:endParaRPr lang="en-US" sz="4000" dirty="0"/>
          </a:p>
        </p:txBody>
      </p:sp>
      <p:sp>
        <p:nvSpPr>
          <p:cNvPr id="9" name="Text 7"/>
          <p:cNvSpPr txBox="1"/>
          <p:nvPr/>
        </p:nvSpPr>
        <p:spPr>
          <a:xfrm>
            <a:off x="8641080" y="1417320"/>
            <a:ext cx="2743200" cy="731520"/>
          </a:xfrm>
          <a:prstGeom prst="rect">
            <a:avLst/>
          </a:prstGeom>
          <a:noFill/>
          <a:ln/>
        </p:spPr>
        <p:txBody>
          <a:bodyPr wrap="square" lIns="0" tIns="0" rIns="0" bIns="0" rtlCol="0" anchor="ctr"/>
          <a:lstStyle/>
          <a:p>
            <a:pPr indent="0" marL="0">
              <a:buNone/>
            </a:pPr>
            <a:r>
              <a:rPr lang="en-US" sz="1700" b="1" dirty="0">
                <a:solidFill>
                  <a:schemeClr val="tx2"/>
                </a:solidFill>
              </a:rPr>
              <a:t>Missingness alone</a:t>
            </a:r>
            <a:endParaRPr lang="en-US" sz="1700" dirty="0"/>
          </a:p>
        </p:txBody>
      </p:sp>
      <p:sp>
        <p:nvSpPr>
          <p:cNvPr id="10" name="Text 8"/>
          <p:cNvSpPr txBox="1"/>
          <p:nvPr/>
        </p:nvSpPr>
        <p:spPr>
          <a:xfrm>
            <a:off x="6446520" y="2286000"/>
            <a:ext cx="4892040" cy="1143000"/>
          </a:xfrm>
          <a:prstGeom prst="rect">
            <a:avLst/>
          </a:prstGeom>
          <a:noFill/>
          <a:ln/>
        </p:spPr>
        <p:txBody>
          <a:bodyPr wrap="square" lIns="0" tIns="0" rIns="0" bIns="0" rtlCol="0" anchor="t"/>
          <a:lstStyle/>
          <a:p>
            <a:pPr indent="0" marL="0">
              <a:buNone/>
            </a:pPr>
            <a:r>
              <a:rPr lang="en-US" sz="1500" dirty="0">
                <a:solidFill>
                  <a:schemeClr val="tx1"/>
                </a:solidFill>
              </a:rPr>
              <a:t>CV ROC-AUC from which values are missing, ignoring the values: testing practice carries class signal.</a:t>
            </a:r>
            <a:endParaRPr lang="en-US" sz="1500" dirty="0"/>
          </a:p>
        </p:txBody>
      </p:sp>
      <p:sp>
        <p:nvSpPr>
          <p:cNvPr id="11" name="card"/>
          <p:cNvSpPr/>
          <p:nvPr/>
        </p:nvSpPr>
        <p:spPr>
          <a:xfrm>
            <a:off x="548640" y="3794760"/>
            <a:ext cx="5440680" cy="2377440"/>
          </a:xfrm>
          <a:prstGeom prst="roundRect">
            <a:avLst>
              <a:gd name="adj" fmla="val 4615"/>
            </a:avLst>
          </a:prstGeom>
          <a:solidFill>
            <a:schemeClr val="bg2"/>
          </a:solidFill>
          <a:ln/>
        </p:spPr>
      </p:sp>
      <p:sp>
        <p:nvSpPr>
          <p:cNvPr id="12" name="Text 10"/>
          <p:cNvSpPr txBox="1"/>
          <p:nvPr/>
        </p:nvSpPr>
        <p:spPr>
          <a:xfrm>
            <a:off x="822960" y="3977640"/>
            <a:ext cx="2103120" cy="8229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0.505</a:t>
            </a:r>
            <a:endParaRPr lang="en-US" sz="4000" dirty="0"/>
          </a:p>
        </p:txBody>
      </p:sp>
      <p:sp>
        <p:nvSpPr>
          <p:cNvPr id="13" name="Text 11"/>
          <p:cNvSpPr txBox="1"/>
          <p:nvPr/>
        </p:nvSpPr>
        <p:spPr>
          <a:xfrm>
            <a:off x="3017520" y="4023360"/>
            <a:ext cx="2743200" cy="731520"/>
          </a:xfrm>
          <a:prstGeom prst="rect">
            <a:avLst/>
          </a:prstGeom>
          <a:noFill/>
          <a:ln/>
        </p:spPr>
        <p:txBody>
          <a:bodyPr wrap="square" lIns="0" tIns="0" rIns="0" bIns="0" rtlCol="0" anchor="ctr"/>
          <a:lstStyle/>
          <a:p>
            <a:pPr indent="0" marL="0">
              <a:buNone/>
            </a:pPr>
            <a:r>
              <a:rPr lang="en-US" sz="1700" b="1" dirty="0">
                <a:solidFill>
                  <a:schemeClr val="tx2"/>
                </a:solidFill>
              </a:rPr>
              <a:t>Shuffled labels</a:t>
            </a:r>
            <a:endParaRPr lang="en-US" sz="1700" dirty="0"/>
          </a:p>
        </p:txBody>
      </p:sp>
      <p:sp>
        <p:nvSpPr>
          <p:cNvPr id="14" name="Text 12"/>
          <p:cNvSpPr txBox="1"/>
          <p:nvPr/>
        </p:nvSpPr>
        <p:spPr>
          <a:xfrm>
            <a:off x="822960" y="4892040"/>
            <a:ext cx="4892040" cy="1143000"/>
          </a:xfrm>
          <a:prstGeom prst="rect">
            <a:avLst/>
          </a:prstGeom>
          <a:noFill/>
          <a:ln/>
        </p:spPr>
        <p:txBody>
          <a:bodyPr wrap="square" lIns="0" tIns="0" rIns="0" bIns="0" rtlCol="0" anchor="t"/>
          <a:lstStyle/>
          <a:p>
            <a:pPr indent="0" marL="0">
              <a:buNone/>
            </a:pPr>
            <a:r>
              <a:rPr lang="en-US" sz="1500" dirty="0">
                <a:solidFill>
                  <a:schemeClr val="tx1"/>
                </a:solidFill>
              </a:rPr>
              <a:t>CV ROC-AUC after permuting the labels: chance level, so the pipeline has no hidden leak.</a:t>
            </a:r>
            <a:endParaRPr lang="en-US" sz="1500" dirty="0"/>
          </a:p>
        </p:txBody>
      </p:sp>
      <p:sp>
        <p:nvSpPr>
          <p:cNvPr id="15" name="card"/>
          <p:cNvSpPr/>
          <p:nvPr/>
        </p:nvSpPr>
        <p:spPr>
          <a:xfrm>
            <a:off x="6172200" y="3794760"/>
            <a:ext cx="5440680" cy="2377440"/>
          </a:xfrm>
          <a:prstGeom prst="roundRect">
            <a:avLst>
              <a:gd name="adj" fmla="val 4615"/>
            </a:avLst>
          </a:prstGeom>
          <a:solidFill>
            <a:schemeClr val="bg2"/>
          </a:solidFill>
          <a:ln/>
        </p:spPr>
      </p:sp>
      <p:sp>
        <p:nvSpPr>
          <p:cNvPr id="16" name="Text 14"/>
          <p:cNvSpPr txBox="1"/>
          <p:nvPr/>
        </p:nvSpPr>
        <p:spPr>
          <a:xfrm>
            <a:off x="6446520" y="3977640"/>
            <a:ext cx="2103120" cy="82296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0%</a:t>
            </a:r>
            <a:endParaRPr lang="en-US" sz="4000" dirty="0"/>
          </a:p>
        </p:txBody>
      </p:sp>
      <p:sp>
        <p:nvSpPr>
          <p:cNvPr id="17" name="Text 15"/>
          <p:cNvSpPr txBox="1"/>
          <p:nvPr/>
        </p:nvSpPr>
        <p:spPr>
          <a:xfrm>
            <a:off x="8641080" y="4023360"/>
            <a:ext cx="2743200" cy="731520"/>
          </a:xfrm>
          <a:prstGeom prst="rect">
            <a:avLst/>
          </a:prstGeom>
          <a:noFill/>
          <a:ln/>
        </p:spPr>
        <p:txBody>
          <a:bodyPr wrap="square" lIns="0" tIns="0" rIns="0" bIns="0" rtlCol="0" anchor="ctr"/>
          <a:lstStyle/>
          <a:p>
            <a:pPr indent="0" marL="0">
              <a:buNone/>
            </a:pPr>
            <a:r>
              <a:rPr lang="en-US" sz="1700" b="1" dirty="0">
                <a:solidFill>
                  <a:schemeClr val="tx2"/>
                </a:solidFill>
              </a:rPr>
              <a:t>Abnormal findings in non-CKD</a:t>
            </a:r>
            <a:endParaRPr lang="en-US" sz="1700" dirty="0"/>
          </a:p>
        </p:txBody>
      </p:sp>
      <p:sp>
        <p:nvSpPr>
          <p:cNvPr id="18" name="Text 16"/>
          <p:cNvSpPr txBox="1"/>
          <p:nvPr/>
        </p:nvSpPr>
        <p:spPr>
          <a:xfrm>
            <a:off x="6446520" y="4892040"/>
            <a:ext cx="4892040" cy="1143000"/>
          </a:xfrm>
          <a:prstGeom prst="rect">
            <a:avLst/>
          </a:prstGeom>
          <a:noFill/>
          <a:ln/>
        </p:spPr>
        <p:txBody>
          <a:bodyPr wrap="square" lIns="0" tIns="0" rIns="0" bIns="0" rtlCol="0" anchor="t"/>
          <a:lstStyle/>
          <a:p>
            <a:pPr indent="0" marL="0">
              <a:buNone/>
            </a:pPr>
            <a:r>
              <a:rPr lang="en-US" sz="1500" dirty="0">
                <a:solidFill>
                  <a:schemeClr val="tx1"/>
                </a:solidFill>
              </a:rPr>
              <a:t>No non-CKD training record has hypertension, diabetes, anaemia or any other abnormal finding.</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What drives the predictions: global SHAP</a:t>
            </a:r>
            <a:endParaRPr lang="en-US" sz="3000" dirty="0"/>
          </a:p>
        </p:txBody>
      </p:sp>
      <p:pic>
        <p:nvPicPr>
          <p:cNvPr id="3" name="Image 0" descr="SHAP beeswarm summary plot">    </p:cNvPr>
          <p:cNvPicPr>
            <a:picLocks noChangeAspect="1"/>
          </p:cNvPicPr>
          <p:nvPr/>
        </p:nvPicPr>
        <p:blipFill>
          <a:blip r:embed="rId1"/>
          <a:stretch>
            <a:fillRect/>
          </a:stretch>
        </p:blipFill>
        <p:spPr>
          <a:xfrm>
            <a:off x="548640" y="1097280"/>
            <a:ext cx="5328018" cy="5120640"/>
          </a:xfrm>
          <a:prstGeom prst="rect">
            <a:avLst/>
          </a:prstGeom>
        </p:spPr>
      </p:pic>
      <p:graphicFrame>
        <p:nvGraphicFramePr>
          <p:cNvPr id="4" name="Chart 0" descr=""/>
          <p:cNvGraphicFramePr/>
          <p:nvPr/>
        </p:nvGraphicFramePr>
        <p:xfrm>
          <a:off x="6126480" y="1097280"/>
          <a:ext cx="5486400" cy="274320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6126480" y="4023360"/>
            <a:ext cx="5486400" cy="1828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Creatinine: basis of eGFR, which defines CKD</a:t>
            </a:r>
            <a:endParaRPr lang="en-US" sz="1400" dirty="0"/>
          </a:p>
          <a:p>
            <a:pPr marL="342900" indent="-342900">
              <a:spcAft>
                <a:spcPts val="400"/>
              </a:spcAft>
              <a:buSzPct val="100000"/>
              <a:buChar char="•"/>
            </a:pPr>
            <a:r>
              <a:rPr lang="en-US" sz="1400" dirty="0">
                <a:solidFill>
                  <a:schemeClr val="tx1"/>
                </a:solidFill>
              </a:rPr>
              <a:t>Albumin: marker of kidney damage</a:t>
            </a:r>
            <a:endParaRPr lang="en-US" sz="1400" dirty="0"/>
          </a:p>
          <a:p>
            <a:pPr marL="342900" indent="-342900">
              <a:spcAft>
                <a:spcPts val="400"/>
              </a:spcAft>
              <a:buSzPct val="100000"/>
              <a:buChar char="•"/>
            </a:pPr>
            <a:r>
              <a:rPr lang="en-US" sz="1400" dirty="0">
                <a:solidFill>
                  <a:schemeClr val="tx1"/>
                </a:solidFill>
              </a:rPr>
              <a:t>Haemoglobin, packed cell volume: anaemia, common as CKD advances</a:t>
            </a:r>
            <a:endParaRPr lang="en-US" sz="1400" dirty="0"/>
          </a:p>
          <a:p>
            <a:pPr marL="342900" indent="-342900">
              <a:spcAft>
                <a:spcPts val="400"/>
              </a:spcAft>
              <a:buSzPct val="100000"/>
              <a:buChar char="•"/>
            </a:pPr>
            <a:r>
              <a:rPr lang="en-US" sz="1400" dirty="0">
                <a:solidFill>
                  <a:schemeClr val="tx1"/>
                </a:solidFill>
              </a:rPr>
              <a:t>Hypertension, diabetes: leading CKD risk factors</a:t>
            </a:r>
            <a:endParaRPr lang="en-US" sz="1400" dirty="0"/>
          </a:p>
          <a:p>
            <a:pPr marL="342900" indent="-342900">
              <a:spcAft>
                <a:spcPts val="400"/>
              </a:spcAft>
              <a:buSzPct val="100000"/>
              <a:buChar char="•"/>
            </a:pPr>
            <a:r>
              <a:rPr lang="en-US" sz="1400" dirty="0">
                <a:solidFill>
                  <a:schemeClr val="tx1"/>
                </a:solidFill>
              </a:rPr>
              <a:t>Specific gravity: not a diagnostic criterion; matches earlier SHAP work on this dataset</a:t>
            </a:r>
            <a:endParaRPr lang="en-US" sz="1400" dirty="0"/>
          </a:p>
        </p:txBody>
      </p:sp>
      <p:sp>
        <p:nvSpPr>
          <p:cNvPr id="6" name="Text 2"/>
          <p:cNvSpPr txBox="1"/>
          <p:nvPr/>
        </p:nvSpPr>
        <p:spPr>
          <a:xfrm>
            <a:off x="6126480" y="5897880"/>
            <a:ext cx="5486400" cy="411480"/>
          </a:xfrm>
          <a:prstGeom prst="rect">
            <a:avLst/>
          </a:prstGeom>
          <a:noFill/>
          <a:ln/>
        </p:spPr>
        <p:txBody>
          <a:bodyPr wrap="square" lIns="0" tIns="0" rIns="0" bIns="0" rtlCol="0" anchor="ctr"/>
          <a:lstStyle/>
          <a:p>
            <a:pPr indent="0" marL="0">
              <a:buNone/>
            </a:pPr>
            <a:r>
              <a:rPr lang="en-US" sz="1200" i="1" dirty="0">
                <a:solidFill>
                  <a:schemeClr val="accent6"/>
                </a:solidFill>
              </a:rPr>
              <a:t>Ranking stable between test and training records (Spearman 0.995). SHAP explains the model, not the disease.</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Why one patient got their prediction: local SHAP</a:t>
            </a:r>
            <a:endParaRPr lang="en-US" sz="3000" dirty="0"/>
          </a:p>
        </p:txBody>
      </p:sp>
      <p:pic>
        <p:nvPicPr>
          <p:cNvPr id="3" name="Image 0" descr="Waterfall plot for a CKD record">    </p:cNvPr>
          <p:cNvPicPr>
            <a:picLocks noChangeAspect="1"/>
          </p:cNvPicPr>
          <p:nvPr/>
        </p:nvPicPr>
        <p:blipFill>
          <a:blip r:embed="rId1"/>
          <a:stretch>
            <a:fillRect/>
          </a:stretch>
        </p:blipFill>
        <p:spPr>
          <a:xfrm>
            <a:off x="548640" y="1097280"/>
            <a:ext cx="4971210" cy="4160520"/>
          </a:xfrm>
          <a:prstGeom prst="rect">
            <a:avLst/>
          </a:prstGeom>
        </p:spPr>
      </p:pic>
      <p:pic>
        <p:nvPicPr>
          <p:cNvPr id="4" name="Image 1" descr="Waterfall plot for the borderline record">    </p:cNvPr>
          <p:cNvPicPr>
            <a:picLocks noChangeAspect="1"/>
          </p:cNvPicPr>
          <p:nvPr/>
        </p:nvPicPr>
        <p:blipFill>
          <a:blip r:embed="rId2"/>
          <a:stretch>
            <a:fillRect/>
          </a:stretch>
        </p:blipFill>
        <p:spPr>
          <a:xfrm>
            <a:off x="6641670" y="1097280"/>
            <a:ext cx="4971210" cy="4160520"/>
          </a:xfrm>
          <a:prstGeom prst="rect">
            <a:avLst/>
          </a:prstGeom>
        </p:spPr>
      </p:pic>
      <p:sp>
        <p:nvSpPr>
          <p:cNvPr id="5" name="Text 1"/>
          <p:cNvSpPr txBox="1"/>
          <p:nvPr/>
        </p:nvSpPr>
        <p:spPr>
          <a:xfrm>
            <a:off x="548640" y="5394960"/>
            <a:ext cx="5394960" cy="914400"/>
          </a:xfrm>
          <a:prstGeom prst="rect">
            <a:avLst/>
          </a:prstGeom>
          <a:noFill/>
          <a:ln/>
        </p:spPr>
        <p:txBody>
          <a:bodyPr wrap="square" lIns="0" tIns="0" rIns="0" bIns="0" rtlCol="0" anchor="t"/>
          <a:lstStyle/>
          <a:p>
            <a:pPr indent="0" marL="0">
              <a:buNone/>
            </a:pPr>
            <a:r>
              <a:rPr lang="en-US" sz="1400" b="1" dirty="0">
                <a:solidFill>
                  <a:schemeClr val="tx1"/>
                </a:solidFill>
              </a:rPr>
              <a:t>Record 26 (true CKD), P = 0.993</a:t>
            </a:r>
            <a:endParaRPr lang="en-US" sz="1400" dirty="0"/>
          </a:p>
          <a:p>
            <a:pPr indent="0" marL="0">
              <a:buNone/>
            </a:pPr>
            <a:r>
              <a:rPr lang="en-US" sz="1400" dirty="0">
                <a:solidFill>
                  <a:schemeClr val="tx1"/>
                </a:solidFill>
              </a:rPr>
              <a:t>High creatinine, low specific gravity and low haemoglobin push the output up from the 0.667 baseline.</a:t>
            </a:r>
            <a:endParaRPr lang="en-US" sz="1400" dirty="0"/>
          </a:p>
        </p:txBody>
      </p:sp>
      <p:sp>
        <p:nvSpPr>
          <p:cNvPr id="6" name="Text 2"/>
          <p:cNvSpPr txBox="1"/>
          <p:nvPr/>
        </p:nvSpPr>
        <p:spPr>
          <a:xfrm>
            <a:off x="6217920" y="5394960"/>
            <a:ext cx="5394960" cy="914400"/>
          </a:xfrm>
          <a:prstGeom prst="rect">
            <a:avLst/>
          </a:prstGeom>
          <a:noFill/>
          <a:ln/>
        </p:spPr>
        <p:txBody>
          <a:bodyPr wrap="square" lIns="0" tIns="0" rIns="0" bIns="0" rtlCol="0" anchor="t"/>
          <a:lstStyle/>
          <a:p>
            <a:pPr indent="0" marL="0">
              <a:buNone/>
            </a:pPr>
            <a:r>
              <a:rPr lang="en-US" sz="1400" b="1" dirty="0">
                <a:solidFill>
                  <a:schemeClr val="tx1"/>
                </a:solidFill>
              </a:rPr>
              <a:t>Record 324 (true non-CKD), P = 0.397</a:t>
            </a:r>
            <a:endParaRPr lang="en-US" sz="1400" dirty="0"/>
          </a:p>
          <a:p>
            <a:pPr indent="0" marL="0">
              <a:buNone/>
            </a:pPr>
            <a:r>
              <a:rPr lang="en-US" sz="1400" dirty="0">
                <a:solidFill>
                  <a:schemeClr val="tx1"/>
                </a:solidFill>
              </a:rPr>
              <a:t>Normal creatinine pushes down, but missing haemoglobin, imputed at the training median 12.6 g/dL, pushes up.</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Demonstration: a local Streamlit prototype</a:t>
            </a:r>
            <a:endParaRPr lang="en-US" sz="3000" dirty="0"/>
          </a:p>
        </p:txBody>
      </p:sp>
      <p:pic>
        <p:nvPicPr>
          <p:cNvPr id="3" name="Image 0" descr="App screenshot: prediction for test record 26">    </p:cNvPr>
          <p:cNvPicPr>
            <a:picLocks noChangeAspect="1"/>
          </p:cNvPicPr>
          <p:nvPr/>
        </p:nvPicPr>
        <p:blipFill>
          <a:blip r:embed="rId1"/>
          <a:stretch>
            <a:fillRect/>
          </a:stretch>
        </p:blipFill>
        <p:spPr>
          <a:xfrm>
            <a:off x="548640" y="1188720"/>
            <a:ext cx="5212080" cy="1331976"/>
          </a:xfrm>
          <a:prstGeom prst="rect">
            <a:avLst/>
          </a:prstGeom>
        </p:spPr>
      </p:pic>
      <p:pic>
        <p:nvPicPr>
          <p:cNvPr id="4" name="Image 1" descr="App screenshot: SHAP explanation for test record 26">    </p:cNvPr>
          <p:cNvPicPr>
            <a:picLocks noChangeAspect="1"/>
          </p:cNvPicPr>
          <p:nvPr/>
        </p:nvPicPr>
        <p:blipFill>
          <a:blip r:embed="rId2"/>
          <a:stretch>
            <a:fillRect/>
          </a:stretch>
        </p:blipFill>
        <p:spPr>
          <a:xfrm>
            <a:off x="5943600" y="1188720"/>
            <a:ext cx="5669280" cy="3188970"/>
          </a:xfrm>
          <a:prstGeom prst="rect">
            <a:avLst/>
          </a:prstGeom>
        </p:spPr>
      </p:pic>
      <p:sp>
        <p:nvSpPr>
          <p:cNvPr id="5" name="badge"/>
          <p:cNvSpPr/>
          <p:nvPr/>
        </p:nvSpPr>
        <p:spPr>
          <a:xfrm>
            <a:off x="548640" y="2743200"/>
            <a:ext cx="411480" cy="411480"/>
          </a:xfrm>
          <a:prstGeom prst="ellipse">
            <a:avLst/>
          </a:prstGeom>
          <a:solidFill>
            <a:schemeClr val="accent2"/>
          </a:solidFill>
          <a:ln/>
        </p:spPr>
      </p:sp>
      <p:sp>
        <p:nvSpPr>
          <p:cNvPr id="6" name="Text 2"/>
          <p:cNvSpPr txBox="1"/>
          <p:nvPr/>
        </p:nvSpPr>
        <p:spPr>
          <a:xfrm>
            <a:off x="548640" y="27432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3"/>
          <p:cNvSpPr txBox="1"/>
          <p:nvPr/>
        </p:nvSpPr>
        <p:spPr>
          <a:xfrm>
            <a:off x="1097280" y="2697480"/>
            <a:ext cx="4663440" cy="502920"/>
          </a:xfrm>
          <a:prstGeom prst="rect">
            <a:avLst/>
          </a:prstGeom>
          <a:noFill/>
          <a:ln/>
        </p:spPr>
        <p:txBody>
          <a:bodyPr wrap="square" lIns="0" tIns="0" rIns="0" bIns="0" rtlCol="0" anchor="ctr"/>
          <a:lstStyle/>
          <a:p>
            <a:pPr indent="0" marL="0">
              <a:buNone/>
            </a:pPr>
            <a:r>
              <a:rPr lang="en-US" sz="1500" dirty="0">
                <a:solidFill>
                  <a:schemeClr val="tx1"/>
                </a:solidFill>
              </a:rPr>
              <a:t>Validate inputs against the schema</a:t>
            </a:r>
            <a:endParaRPr lang="en-US" sz="1500" dirty="0"/>
          </a:p>
        </p:txBody>
      </p:sp>
      <p:sp>
        <p:nvSpPr>
          <p:cNvPr id="8" name="badge"/>
          <p:cNvSpPr/>
          <p:nvPr/>
        </p:nvSpPr>
        <p:spPr>
          <a:xfrm>
            <a:off x="548640" y="3310128"/>
            <a:ext cx="411480" cy="411480"/>
          </a:xfrm>
          <a:prstGeom prst="ellipse">
            <a:avLst/>
          </a:prstGeom>
          <a:solidFill>
            <a:schemeClr val="accent4"/>
          </a:solidFill>
          <a:ln/>
        </p:spPr>
      </p:sp>
      <p:sp>
        <p:nvSpPr>
          <p:cNvPr id="9" name="Text 5"/>
          <p:cNvSpPr txBox="1"/>
          <p:nvPr/>
        </p:nvSpPr>
        <p:spPr>
          <a:xfrm>
            <a:off x="548640" y="331012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6"/>
          <p:cNvSpPr txBox="1"/>
          <p:nvPr/>
        </p:nvSpPr>
        <p:spPr>
          <a:xfrm>
            <a:off x="1097280" y="3264408"/>
            <a:ext cx="4663440" cy="502920"/>
          </a:xfrm>
          <a:prstGeom prst="rect">
            <a:avLst/>
          </a:prstGeom>
          <a:noFill/>
          <a:ln/>
        </p:spPr>
        <p:txBody>
          <a:bodyPr wrap="square" lIns="0" tIns="0" rIns="0" bIns="0" rtlCol="0" anchor="ctr"/>
          <a:lstStyle/>
          <a:p>
            <a:pPr indent="0" marL="0">
              <a:buNone/>
            </a:pPr>
            <a:r>
              <a:rPr lang="en-US" sz="1500" dirty="0">
                <a:solidFill>
                  <a:schemeClr val="tx1"/>
                </a:solidFill>
              </a:rPr>
              <a:t>Impute blanks and list them</a:t>
            </a:r>
            <a:endParaRPr lang="en-US" sz="1500" dirty="0"/>
          </a:p>
        </p:txBody>
      </p:sp>
      <p:sp>
        <p:nvSpPr>
          <p:cNvPr id="11" name="badge"/>
          <p:cNvSpPr/>
          <p:nvPr/>
        </p:nvSpPr>
        <p:spPr>
          <a:xfrm>
            <a:off x="548640" y="3877056"/>
            <a:ext cx="411480" cy="411480"/>
          </a:xfrm>
          <a:prstGeom prst="ellipse">
            <a:avLst/>
          </a:prstGeom>
          <a:solidFill>
            <a:schemeClr val="accent1"/>
          </a:solidFill>
          <a:ln/>
        </p:spPr>
      </p:sp>
      <p:sp>
        <p:nvSpPr>
          <p:cNvPr id="12" name="Text 8"/>
          <p:cNvSpPr txBox="1"/>
          <p:nvPr/>
        </p:nvSpPr>
        <p:spPr>
          <a:xfrm>
            <a:off x="548640" y="3877056"/>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9"/>
          <p:cNvSpPr txBox="1"/>
          <p:nvPr/>
        </p:nvSpPr>
        <p:spPr>
          <a:xfrm>
            <a:off x="1097280" y="3831336"/>
            <a:ext cx="4663440" cy="502920"/>
          </a:xfrm>
          <a:prstGeom prst="rect">
            <a:avLst/>
          </a:prstGeom>
          <a:noFill/>
          <a:ln/>
        </p:spPr>
        <p:txBody>
          <a:bodyPr wrap="square" lIns="0" tIns="0" rIns="0" bIns="0" rtlCol="0" anchor="ctr"/>
          <a:lstStyle/>
          <a:p>
            <a:pPr indent="0" marL="0">
              <a:buNone/>
            </a:pPr>
            <a:r>
              <a:rPr lang="en-US" sz="1500" dirty="0">
                <a:solidFill>
                  <a:schemeClr val="tx1"/>
                </a:solidFill>
              </a:rPr>
              <a:t>Predict P(CKD) with the saved model</a:t>
            </a:r>
            <a:endParaRPr lang="en-US" sz="1500" dirty="0"/>
          </a:p>
        </p:txBody>
      </p:sp>
      <p:sp>
        <p:nvSpPr>
          <p:cNvPr id="14" name="badge"/>
          <p:cNvSpPr/>
          <p:nvPr/>
        </p:nvSpPr>
        <p:spPr>
          <a:xfrm>
            <a:off x="548640" y="4443984"/>
            <a:ext cx="411480" cy="411480"/>
          </a:xfrm>
          <a:prstGeom prst="ellipse">
            <a:avLst/>
          </a:prstGeom>
          <a:solidFill>
            <a:schemeClr val="accent3"/>
          </a:solidFill>
          <a:ln/>
        </p:spPr>
      </p:sp>
      <p:sp>
        <p:nvSpPr>
          <p:cNvPr id="15" name="Text 11"/>
          <p:cNvSpPr txBox="1"/>
          <p:nvPr/>
        </p:nvSpPr>
        <p:spPr>
          <a:xfrm>
            <a:off x="548640" y="4443984"/>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6" name="Text 12"/>
          <p:cNvSpPr txBox="1"/>
          <p:nvPr/>
        </p:nvSpPr>
        <p:spPr>
          <a:xfrm>
            <a:off x="1097280" y="4398264"/>
            <a:ext cx="4663440" cy="502920"/>
          </a:xfrm>
          <a:prstGeom prst="rect">
            <a:avLst/>
          </a:prstGeom>
          <a:noFill/>
          <a:ln/>
        </p:spPr>
        <p:txBody>
          <a:bodyPr wrap="square" lIns="0" tIns="0" rIns="0" bIns="0" rtlCol="0" anchor="ctr"/>
          <a:lstStyle/>
          <a:p>
            <a:pPr indent="0" marL="0">
              <a:buNone/>
            </a:pPr>
            <a:r>
              <a:rPr lang="en-US" sz="1500" dirty="0">
                <a:solidFill>
                  <a:schemeClr val="tx1"/>
                </a:solidFill>
              </a:rPr>
              <a:t>Explain the prediction with SHAP</a:t>
            </a:r>
            <a:endParaRPr lang="en-US" sz="1500" dirty="0"/>
          </a:p>
        </p:txBody>
      </p:sp>
      <p:sp>
        <p:nvSpPr>
          <p:cNvPr id="17" name="badge"/>
          <p:cNvSpPr/>
          <p:nvPr/>
        </p:nvSpPr>
        <p:spPr>
          <a:xfrm>
            <a:off x="548640" y="5010912"/>
            <a:ext cx="411480" cy="411480"/>
          </a:xfrm>
          <a:prstGeom prst="ellipse">
            <a:avLst/>
          </a:prstGeom>
          <a:solidFill>
            <a:schemeClr val="accent6"/>
          </a:solidFill>
          <a:ln/>
        </p:spPr>
      </p:sp>
      <p:sp>
        <p:nvSpPr>
          <p:cNvPr id="18" name="Text 14"/>
          <p:cNvSpPr txBox="1"/>
          <p:nvPr/>
        </p:nvSpPr>
        <p:spPr>
          <a:xfrm>
            <a:off x="548640" y="501091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9" name="Text 15"/>
          <p:cNvSpPr txBox="1"/>
          <p:nvPr/>
        </p:nvSpPr>
        <p:spPr>
          <a:xfrm>
            <a:off x="1097280" y="4965192"/>
            <a:ext cx="4663440" cy="502920"/>
          </a:xfrm>
          <a:prstGeom prst="rect">
            <a:avLst/>
          </a:prstGeom>
          <a:noFill/>
          <a:ln/>
        </p:spPr>
        <p:txBody>
          <a:bodyPr wrap="square" lIns="0" tIns="0" rIns="0" bIns="0" rtlCol="0" anchor="ctr"/>
          <a:lstStyle/>
          <a:p>
            <a:pPr indent="0" marL="0">
              <a:buNone/>
            </a:pPr>
            <a:r>
              <a:rPr lang="en-US" sz="1500" dirty="0">
                <a:solidFill>
                  <a:schemeClr val="tx1"/>
                </a:solidFill>
              </a:rPr>
              <a:t>Check baseline + contributions = output</a:t>
            </a:r>
            <a:endParaRPr lang="en-US" sz="1500" dirty="0"/>
          </a:p>
        </p:txBody>
      </p:sp>
      <p:sp>
        <p:nvSpPr>
          <p:cNvPr id="20" name="Text 16"/>
          <p:cNvSpPr txBox="1"/>
          <p:nvPr/>
        </p:nvSpPr>
        <p:spPr>
          <a:xfrm>
            <a:off x="5943600" y="4572000"/>
            <a:ext cx="5669280" cy="1280160"/>
          </a:xfrm>
          <a:prstGeom prst="rect">
            <a:avLst/>
          </a:prstGeom>
          <a:noFill/>
          <a:ln/>
        </p:spPr>
        <p:txBody>
          <a:bodyPr wrap="square" lIns="0" tIns="0" rIns="0" bIns="0" rtlCol="0" anchor="t"/>
          <a:lstStyle/>
          <a:p>
            <a:pPr indent="0" marL="0">
              <a:buNone/>
            </a:pPr>
            <a:r>
              <a:rPr lang="en-US" sz="1400" dirty="0">
                <a:solidFill>
                  <a:schemeClr val="accent6"/>
                </a:solidFill>
              </a:rPr>
              <a:t>Screenshots from the running app (dataset record 26). It loads saved artifacts only: about 46 ms per prediction and 82 ms per explanation. Every page states that it is an educational prototype, not a diagnostic tool, with no treatment advice.</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Conclusion, limitations and next steps</a:t>
            </a:r>
            <a:endParaRPr lang="en-US" sz="3000" dirty="0"/>
          </a:p>
        </p:txBody>
      </p:sp>
      <p:sp>
        <p:nvSpPr>
          <p:cNvPr id="3" name="Text 1"/>
          <p:cNvSpPr txBox="1"/>
          <p:nvPr/>
        </p:nvSpPr>
        <p:spPr>
          <a:xfrm>
            <a:off x="548640" y="1234440"/>
            <a:ext cx="5394960" cy="457200"/>
          </a:xfrm>
          <a:prstGeom prst="rect">
            <a:avLst/>
          </a:prstGeom>
          <a:noFill/>
          <a:ln/>
        </p:spPr>
        <p:txBody>
          <a:bodyPr wrap="square" lIns="0" tIns="0" rIns="0" bIns="0" rtlCol="0" anchor="ctr"/>
          <a:lstStyle/>
          <a:p>
            <a:pPr indent="0" marL="0">
              <a:buNone/>
            </a:pPr>
            <a:r>
              <a:rPr lang="en-US" sz="2000" b="1" dirty="0">
                <a:solidFill>
                  <a:schemeClr val="accent1"/>
                </a:solidFill>
              </a:rPr>
              <a:t>What we found</a:t>
            </a:r>
            <a:endParaRPr lang="en-US" sz="2000" dirty="0"/>
          </a:p>
        </p:txBody>
      </p:sp>
      <p:sp>
        <p:nvSpPr>
          <p:cNvPr id="4" name="Text 2"/>
          <p:cNvSpPr txBox="1"/>
          <p:nvPr/>
        </p:nvSpPr>
        <p:spPr>
          <a:xfrm>
            <a:off x="548640" y="1783080"/>
            <a:ext cx="5394960" cy="2926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A reproducible, leakage-audited pipeline for four classifiers</a:t>
            </a:r>
            <a:endParaRPr lang="en-US" sz="1600" dirty="0"/>
          </a:p>
          <a:p>
            <a:pPr marL="342900" indent="-342900">
              <a:spcAft>
                <a:spcPts val="1000"/>
              </a:spcAft>
              <a:buSzPct val="100000"/>
              <a:buChar char="•"/>
            </a:pPr>
            <a:r>
              <a:rPr lang="en-US" sz="1600" dirty="0">
                <a:solidFill>
                  <a:schemeClr val="bg1"/>
                </a:solidFill>
              </a:rPr>
              <a:t>Random Forest chosen by a predeclared CV rule; 80/80 test records correct</a:t>
            </a:r>
            <a:endParaRPr lang="en-US" sz="1600" dirty="0"/>
          </a:p>
          <a:p>
            <a:pPr marL="342900" indent="-342900">
              <a:spcAft>
                <a:spcPts val="1000"/>
              </a:spcAft>
              <a:buSzPct val="100000"/>
              <a:buChar char="•"/>
            </a:pPr>
            <a:r>
              <a:rPr lang="en-US" sz="1600" dirty="0">
                <a:solidFill>
                  <a:schemeClr val="bg1"/>
                </a:solidFill>
              </a:rPr>
              <a:t>SHAP: creatinine, specific gravity, haemoglobin, albumin, packed cell volume</a:t>
            </a:r>
            <a:endParaRPr lang="en-US" sz="1600" dirty="0"/>
          </a:p>
          <a:p>
            <a:pPr marL="342900" indent="-342900">
              <a:spcAft>
                <a:spcPts val="1000"/>
              </a:spcAft>
              <a:buSzPct val="100000"/>
              <a:buChar char="•"/>
            </a:pPr>
            <a:r>
              <a:rPr lang="en-US" sz="1600" dirty="0">
                <a:solidFill>
                  <a:schemeClr val="bg1"/>
                </a:solidFill>
              </a:rPr>
              <a:t>Oversampling gave no consistent benefit</a:t>
            </a:r>
            <a:endParaRPr lang="en-US" sz="1600" dirty="0"/>
          </a:p>
        </p:txBody>
      </p:sp>
      <p:sp>
        <p:nvSpPr>
          <p:cNvPr id="5" name="Text 3"/>
          <p:cNvSpPr txBox="1"/>
          <p:nvPr/>
        </p:nvSpPr>
        <p:spPr>
          <a:xfrm>
            <a:off x="6309360" y="1234440"/>
            <a:ext cx="5303520" cy="457200"/>
          </a:xfrm>
          <a:prstGeom prst="rect">
            <a:avLst/>
          </a:prstGeom>
          <a:noFill/>
          <a:ln/>
        </p:spPr>
        <p:txBody>
          <a:bodyPr wrap="square" lIns="0" tIns="0" rIns="0" bIns="0" rtlCol="0" anchor="ctr"/>
          <a:lstStyle/>
          <a:p>
            <a:pPr indent="0" marL="0">
              <a:buNone/>
            </a:pPr>
            <a:r>
              <a:rPr lang="en-US" sz="2000" b="1" dirty="0">
                <a:solidFill>
                  <a:schemeClr val="accent1"/>
                </a:solidFill>
              </a:rPr>
              <a:t>Limits</a:t>
            </a:r>
            <a:endParaRPr lang="en-US" sz="2000" dirty="0"/>
          </a:p>
        </p:txBody>
      </p:sp>
      <p:sp>
        <p:nvSpPr>
          <p:cNvPr id="6" name="Text 4"/>
          <p:cNvSpPr txBox="1"/>
          <p:nvPr/>
        </p:nvSpPr>
        <p:spPr>
          <a:xfrm>
            <a:off x="6309360" y="1783080"/>
            <a:ext cx="5303520" cy="2926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400 single-centre records; healthy-looking controls</a:t>
            </a:r>
            <a:endParaRPr lang="en-US" sz="1600" dirty="0"/>
          </a:p>
          <a:p>
            <a:pPr marL="342900" indent="-342900">
              <a:spcAft>
                <a:spcPts val="1000"/>
              </a:spcAft>
              <a:buSzPct val="100000"/>
              <a:buChar char="•"/>
            </a:pPr>
            <a:r>
              <a:rPr lang="en-US" sz="1600" dirty="0">
                <a:solidFill>
                  <a:schemeClr val="bg1"/>
                </a:solidFill>
              </a:rPr>
              <a:t>80 test records: wide confidence intervals</a:t>
            </a:r>
            <a:endParaRPr lang="en-US" sz="1600" dirty="0"/>
          </a:p>
          <a:p>
            <a:pPr marL="342900" indent="-342900">
              <a:spcAft>
                <a:spcPts val="1000"/>
              </a:spcAft>
              <a:buSzPct val="100000"/>
              <a:buChar char="•"/>
            </a:pPr>
            <a:r>
              <a:rPr lang="en-US" sz="1600" dirty="0">
                <a:solidFill>
                  <a:schemeClr val="bg1"/>
                </a:solidFill>
              </a:rPr>
              <a:t>No eGFR or repeat tests; missingness is informative</a:t>
            </a:r>
            <a:endParaRPr lang="en-US" sz="1600" dirty="0"/>
          </a:p>
          <a:p>
            <a:pPr marL="342900" indent="-342900">
              <a:spcAft>
                <a:spcPts val="1000"/>
              </a:spcAft>
              <a:buSzPct val="100000"/>
              <a:buChar char="•"/>
            </a:pPr>
            <a:r>
              <a:rPr lang="en-US" sz="1600" dirty="0">
                <a:solidFill>
                  <a:schemeClr val="bg1"/>
                </a:solidFill>
              </a:rPr>
              <a:t>Probabilities uncalibrated; SHAP is not causal</a:t>
            </a:r>
            <a:endParaRPr lang="en-US" sz="1600" dirty="0"/>
          </a:p>
          <a:p>
            <a:pPr marL="342900" indent="-342900">
              <a:spcAft>
                <a:spcPts val="1000"/>
              </a:spcAft>
              <a:buSzPct val="100000"/>
              <a:buChar char="•"/>
            </a:pPr>
            <a:r>
              <a:rPr lang="en-US" sz="1600" dirty="0">
                <a:solidFill>
                  <a:schemeClr val="bg1"/>
                </a:solidFill>
              </a:rPr>
              <a:t>No external validation: not clinically validated</a:t>
            </a:r>
            <a:endParaRPr lang="en-US" sz="1600" dirty="0"/>
          </a:p>
        </p:txBody>
      </p:sp>
      <p:sp>
        <p:nvSpPr>
          <p:cNvPr id="7" name="next-steps"/>
          <p:cNvSpPr/>
          <p:nvPr/>
        </p:nvSpPr>
        <p:spPr>
          <a:xfrm>
            <a:off x="548640" y="4983480"/>
            <a:ext cx="11064240" cy="1097280"/>
          </a:xfrm>
          <a:prstGeom prst="roundRect">
            <a:avLst>
              <a:gd name="adj" fmla="val 10000"/>
            </a:avLst>
          </a:prstGeom>
          <a:solidFill>
            <a:schemeClr val="bg1">
              <a:alpha val="12000"/>
            </a:schemeClr>
          </a:solidFill>
          <a:ln/>
        </p:spPr>
      </p:sp>
      <p:sp>
        <p:nvSpPr>
          <p:cNvPr id="8" name="Text 6"/>
          <p:cNvSpPr txBox="1"/>
          <p:nvPr/>
        </p:nvSpPr>
        <p:spPr>
          <a:xfrm>
            <a:off x="777240" y="5074920"/>
            <a:ext cx="10607040" cy="914400"/>
          </a:xfrm>
          <a:prstGeom prst="rect">
            <a:avLst/>
          </a:prstGeom>
          <a:noFill/>
          <a:ln/>
        </p:spPr>
        <p:txBody>
          <a:bodyPr wrap="square" lIns="0" tIns="0" rIns="0" bIns="0" rtlCol="0" anchor="ctr"/>
          <a:lstStyle/>
          <a:p>
            <a:pPr indent="0" marL="0">
              <a:buNone/>
            </a:pPr>
            <a:r>
              <a:rPr lang="en-US" sz="1600" b="1" dirty="0">
                <a:solidFill>
                  <a:schemeClr val="accent1"/>
                </a:solidFill>
              </a:rPr>
              <a:t>Next steps: </a:t>
            </a:r>
            <a:pPr indent="0" marL="0">
              <a:buNone/>
            </a:pPr>
            <a:r>
              <a:rPr lang="en-US" sz="1600" dirty="0">
                <a:solidFill>
                  <a:schemeClr val="bg1"/>
                </a:solidFill>
              </a:rPr>
              <a:t>external validation on larger cohorts with eGFR-based labels, calibration, explicit missingness modelling, and explanation stability across models.</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CKD XAI">
      <a:dk1>
        <a:srgbClr val="1B2430"/>
      </a:dk1>
      <a:lt1>
        <a:srgbClr val="FFFFFF"/>
      </a:lt1>
      <a:dk2>
        <a:srgbClr val="0F3D4C"/>
      </a:dk2>
      <a:lt2>
        <a:srgbClr val="EAF1F4"/>
      </a:lt2>
      <a:accent1>
        <a:srgbClr val="EB6834"/>
      </a:accent1>
      <a:accent2>
        <a:srgbClr val="2A78D6"/>
      </a:accent2>
      <a:accent3>
        <a:srgbClr val="1BAF7A"/>
      </a:accent3>
      <a:accent4>
        <a:srgbClr val="4A3AA7"/>
      </a:accent4>
      <a:accent5>
        <a:srgbClr val="E34948"/>
      </a:accent5>
      <a:accent6>
        <a:srgbClr val="5F6B73"/>
      </a:accent6>
      <a:hlink>
        <a:srgbClr val="2A78D6"/>
      </a:hlink>
      <a:folHlink>
        <a:srgbClr val="4A3AA7"/>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Machine Learning for Chronic Kidney Disease Prediction</dc:title>
  <dc:subject>Mini-project presentation</dc:subject>
  <dc:creator>Vedank Singh</dc:creator>
  <cp:lastModifiedBy>Vedank Singh</cp:lastModifiedBy>
  <cp:revision>1</cp:revision>
  <dcterms:created xsi:type="dcterms:W3CDTF">2026-10-13T18:54:31Z</dcterms:created>
  <dcterms:modified xsi:type="dcterms:W3CDTF">2026-10-13T18:54:31Z</dcterms:modified>
</cp:coreProperties>
</file>